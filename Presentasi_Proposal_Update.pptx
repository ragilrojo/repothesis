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</p:sldIdLst>
  <p:notesMasterIdLst>
    <p:notesMasterId r:id="rId3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notesMaster" Target="notesMasters/notesMaster1.xml"/><Relationship Id="rId38" Type="http://schemas.openxmlformats.org/officeDocument/2006/relationships/presProps" Target="presProps.xml"/><Relationship Id="rId39" Type="http://schemas.openxmlformats.org/officeDocument/2006/relationships/viewProps" Target="viewProps.xml"/><Relationship Id="rId40" Type="http://schemas.openxmlformats.org/officeDocument/2006/relationships/theme" Target="theme/theme1.xml"/><Relationship Id="rId4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" Target="slide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" Target="slide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03366"/>
                </a:solidFill>
              </a:rPr>
              <a:t>Proposal Tesis: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003366"/>
                </a:solidFill>
              </a:rPr>
              <a:t>Optimalisasi Portofolio Adaptif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37744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34495E"/>
                </a:solidFill>
              </a:rPr>
              <a:t>Berbasis Pendekatan
</a:t>
            </a:r>
            <a:pPr algn="ctr" indent="0" marL="0">
              <a:buNone/>
            </a:pPr>
            <a:r>
              <a:rPr lang="en-US" sz="2400" i="1" dirty="0">
                <a:solidFill>
                  <a:srgbClr val="34495E"/>
                </a:solidFill>
              </a:rPr>
              <a:t>Network Markowitz</a:t>
            </a:r>
            <a:pPr algn="ctr" indent="0" marL="0">
              <a:buNone/>
            </a:pPr>
            <a:r>
              <a:rPr lang="en-US" sz="2400" dirty="0">
                <a:solidFill>
                  <a:srgbClr val="34495E"/>
                </a:solidFill>
              </a:rPr>
              <a:t> dengan </a:t>
            </a:r>
            <a:pPr algn="ctr" indent="0" marL="0">
              <a:buNone/>
            </a:pPr>
            <a:r>
              <a:rPr lang="en-US" sz="2400" i="1" dirty="0">
                <a:solidFill>
                  <a:srgbClr val="34495E"/>
                </a:solidFill>
              </a:rPr>
              <a:t>Rolling Window Grid Search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1148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7F8C8D"/>
                </a:solidFill>
              </a:rPr>
              <a:t>Oleh: Ragil Yulianto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Latar Belakang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Tingginya volatilitas ekstrem dan </a:t>
            </a:r>
            <a:pPr indent="0" marL="0">
              <a:buNone/>
            </a:pPr>
            <a:r>
              <a:rPr lang="en-US" sz="2000" b="1" i="1" dirty="0">
                <a:solidFill>
                  <a:srgbClr val="333333"/>
                </a:solidFill>
              </a:rPr>
              <a:t>noise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memerlukan manajemen risiko yang presisi.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Kelemahan Markowitz: Rawan terhadap </a:t>
            </a:r>
            <a:pPr indent="0" marL="0">
              <a:buNone/>
            </a:pPr>
            <a:r>
              <a:rPr lang="en-US" sz="2000" b="1" i="1" dirty="0">
                <a:solidFill>
                  <a:srgbClr val="333333"/>
                </a:solidFill>
              </a:rPr>
              <a:t>estimation error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pada matriks kovarians.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Network Markowitz: Menyaring noise menggunakan </a:t>
            </a:r>
            <a:pPr indent="0" marL="0">
              <a:buNone/>
            </a:pPr>
            <a:r>
              <a:rPr lang="en-US" sz="2000" b="1" i="1" dirty="0">
                <a:solidFill>
                  <a:srgbClr val="333333"/>
                </a:solidFill>
              </a:rPr>
              <a:t>Random Matrix Theory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(RMT) untuk rekonstruksi stabilitas.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Apa itu "Noise" di Pasar Kripto?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Noise (Kebisingan) Pasar: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Fluktuasi harga acak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akibat sentimen sesaat, rumor, FOMO (Fear Of Missing Out), atau spekulasi yang tidak mencerminkan nilai fundamental aset.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Estimation Error (Korelasi Palsu):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Model tradisional seringkali menangkap pergerakan acak ini sebagai korelasi tinggi antar aset, menghasilkan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matriks kovarians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yang 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berisik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dan tidak stabil.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Solusi Random Matrix Theory (</a:t>
            </a:r>
            <a:pPr indent="0" marL="0">
              <a:buNone/>
            </a:pPr>
            <a:r>
              <a:rPr lang="en-US" sz="1800" b="1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RMT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Berfungsi sebagai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filter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untuk memisahkan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korelasi sejati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(sinyal struktur pasar) dari sekadar pergerakan kebetulan (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noise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), memastikan alokasi portofolio tidak tertipu oleh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fluktuasi semu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Landasan Teori Utama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41148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3366"/>
                </a:solidFill>
              </a:rPr>
              <a:t>Tinjauan Portofolio &amp; Risiko: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Portofolio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Diversifikasi aset untuk optimasi return-risiko.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Volatilitas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Ukuran fluktuasi harga pasar.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Kovarians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Ukuran pergerakan bersama aset.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754880" y="1097280"/>
            <a:ext cx="41148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3366"/>
                </a:solidFill>
              </a:rPr>
              <a:t>Pendekatan Struktur Jaringan: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RMT (Random Matrix Theory)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Filter noise untuk kestabilan matriks.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MST (Minimum Spanning Tree)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Jaringan korelasi terkuat tanpa loop.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Centrality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Metrik risiko penularan sistemik.</a:t>
            </a:r>
            <a:endParaRPr lang="en-US" sz="2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Penelitian Terdahulu (State of the Art)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1. Giudici et al. (2020):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Pelopor model Network Markowitz yang memadukan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RMT (Random Matrix Theory)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dan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MST (Minimum Spanning Tree)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di kripto.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2. Kitanovski et al. (2022):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Mendemonstrasikan diversifikasi berbasis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deteksi komunitas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jaringan.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3. Jing &amp; Rocha (2023):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Pemilihan koin topologi MST (Minimum Spanning Tree) mengalahkan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semua benchmark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6A085"/>
                </a:solidFill>
              </a:rPr>
              <a:t>4. Kitanovski et al. (2024):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Penalti graf sangat resilien meredam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eksposur ekstrem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F39C12"/>
                </a:solidFill>
              </a:rPr>
              <a:t>5. Jing et al. (2025):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Penggabungan Network-MPT (Modern Portfolio Theory) memberikan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prediksi stabil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di fase terbaru.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Kerangka Pemikiran / Penelitian</a:t>
            </a:r>
            <a:endParaRPr lang="en-US" sz="2800" dirty="0"/>
          </a:p>
        </p:txBody>
      </p:sp>
      <p:pic>
        <p:nvPicPr>
          <p:cNvPr id="3" name="Image 0" descr="framwro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005840"/>
            <a:ext cx="731520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Dataset: 10 Aset Kripto Utama</a:t>
            </a:r>
            <a:endParaRPr lang="en-US" sz="28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Ticker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Nama Aset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Kategori / Use Case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36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BTC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Bitcoin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Layer 1 / Store of Value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ETH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Ethereum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Layer 1 / Smart Contract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XRP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Ripple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Payment / Bridge Currency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USDT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Tether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Stablecoin / USD Pegged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BCH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Bitcoin Cash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Payment / Peer-to-Peer Cash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LTC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Litecoin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Payment / Digital Silver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BNB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Binance Coin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Layer 1 / Exchange Token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EOS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EOS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Layer 1 / Smart Contract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XLM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Stellar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Payment / Bridge Currency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TRX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Tron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Layer 1 / Smart Contract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Strategi Portofolio yang Disimulasikan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03366"/>
                </a:solidFill>
              </a:rPr>
              <a:t>1. Kelompok Baseline: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EW (Equally Weighted)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CM (Classical Markowitz)</a:t>
            </a:r>
            <a:endParaRPr lang="en-US" sz="2200" dirty="0"/>
          </a:p>
          <a:p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003366"/>
                </a:solidFill>
              </a:rPr>
              <a:t>2. Kelompok Regularisasi: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GM (Glasso Markowitz)</a:t>
            </a:r>
            <a:endParaRPr lang="en-US" sz="2200" dirty="0"/>
          </a:p>
          <a:p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003366"/>
                </a:solidFill>
              </a:rPr>
              <a:t>3. Kelompok Network (Statis):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NW Statis (γ fixed)</a:t>
            </a:r>
            <a:endParaRPr lang="en-US" sz="2200" dirty="0"/>
          </a:p>
          <a:p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003366"/>
                </a:solidFill>
              </a:rPr>
              <a:t>4. Kelompok Network (Adaptif):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NW Adaptif (Grid Search)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1.1. Equally Weighted (EW)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Konsep Dasar: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Strategi alokasi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1/N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tanpa mempertimbangkan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parameter risiko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Keunggulan: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Berfungsi sebagai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benchmark naif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yang tangguh.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Tidak memiliki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estimation risk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karena minim statistik.</a:t>
            </a:r>
            <a:endParaRPr lang="en-US" sz="2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1.2. Classical Markowitz (CM)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Konsep Dasar: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Meminimalkan variansi untuk tingkat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imbal hasil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tertentu.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Kelemahan: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Menderita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ketidakstabilan numerik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pada data yang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sangat berisik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(noisy).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Pondasi dasar sebagai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teori tradisional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dalam penelitian ini.</a:t>
            </a:r>
            <a:endParaRPr lang="en-US" sz="2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2. Graphical Lasso Markowitz (GM)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Konsep Dasar: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Menggunakan algoritma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Lasso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pada matriks presisi (invers kovarians) untuk memaksa korelasi yang tidak signifikan menjadi nol.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Tujuan: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Menciptakan struktur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'sparsity'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(kerekatan) pada jaringan.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Menangani tantangan data kripto yang sering terkorelasi secara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palsu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(spurious correlations).</a:t>
            </a:r>
            <a:endParaRPr lang="en-US" sz="2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3. Network Markowitz (NW) Statis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Konsep Dasar: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Model jaringan original (Giudici et al., 2020) yang menggabungkan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filter RMT (Random Matrix Theory)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dan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penalti sentralitas graf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Karakteristik: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Menggunakan parameter penalti (gamma) yang bersifat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statis/tetap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(hard-coded).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Digunakan sebagai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pembanding langsung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untuk menguji efisiensi parameter adaptif.</a:t>
            </a:r>
            <a:endParaRPr lang="en-US" sz="2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4. Network Markowitz (NW) Adaptif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41148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3366"/>
                </a:solidFill>
              </a:rPr>
              <a:t>Mekanisme Optimasi Dinamis: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Rolling Window: 30, 60, 90, 120 hari.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Rebalancing: Setiap 7 hari.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Transaction Cost: 0.1% (10 basis points).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Grid Search γ: Rentang [0.0 - 2.0].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754880" y="1097280"/>
            <a:ext cx="41148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3366"/>
                </a:solidFill>
              </a:rPr>
              <a:t>Split Validasi Internal (80/20):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Training: Estimasi bobot gamma.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Validation: Seleksi performa optimal.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Fallback: Menggunakan strategi EW (Equally Weighted).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Tujuan: Adaptasi rezim pasar.</a:t>
            </a:r>
            <a:endParaRPr lang="en-US" sz="2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Matriks Evaluasi Performa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1. Sharpe Ratio: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Imbal hasil per unit risiko. Semakin besar menunjukkan kualitas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efisiensi portofolio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2. Value at Risk (VaR):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Batas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kerugian maksimal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kondiri crash. Semakin kecil tandanya perisai sukses.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3. Rachev Ratio: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Membandingkan potensi 'Profit Ekstrem' vs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Ancaman Loss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 Menilai asimetri ekor.</a:t>
            </a:r>
            <a:endParaRPr lang="en-US" sz="1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46888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03366"/>
                </a:solidFill>
              </a:rPr>
              <a:t>Terima Kasih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Lampiran: Analogi </a:t>
            </a:r>
            <a:pPr indent="0" marL="0">
              <a:buNone/>
            </a:pPr>
            <a:r>
              <a:rPr lang="en-US" sz="2800" b="1" u="sng" dirty="0">
                <a:solidFill>
                  <a:srgbClr val="003366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RMT (Random Matrix Theory)</a:t>
            </a:r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 sebagai "Noise-Canceling"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Pasar Kripto = Pesta yang Bising: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Banyak fluktuasi harga karena </a:t>
            </a:r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sentimen sesaat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/ kebetulan (noise).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Sinyal Korelasi Asli = Suara yang Ingin Didengar: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Hubungan nyata antar-aset yang </a:t>
            </a:r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stabil dan berbobot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.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Random Matrix Theory (RMT) = Headphone Noise-Canceling: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Membedakan gelombang statistik acak dari </a:t>
            </a:r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pola suara asli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menggunakan Distribusi MP (Marchenko-Pastur).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Meredam spekulasi jangka pendek untuk mencegah </a:t>
            </a:r>
            <a:pPr indent="0" marL="0">
              <a:buNone/>
            </a:pPr>
            <a:r>
              <a:rPr lang="en-US" sz="2200" b="1" i="1" dirty="0">
                <a:solidFill>
                  <a:srgbClr val="333333"/>
                </a:solidFill>
              </a:rPr>
              <a:t>estimation error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.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Matriks tersisa adalah hubungan yang </a:t>
            </a:r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bersih dan terpercaya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.</a:t>
            </a:r>
            <a:endParaRPr lang="en-US" sz="2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Membedakan Hubungan Sejati (Signal) vs Noise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1. Mencari Nilai Eigen (Eigenvalues):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Mengekstrak angka yang mewakili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kekuatan pola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pergerakan bersama.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2. Batas Noise (Marchenko-Pastur):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RMT (Random Matrix Theory) menghitung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batas teoretis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maksimum dari matriks acak.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3. Uji Coba Signal vs Noise: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NOISE JALUR: Jika Eigenvalue &lt; λ_max. Dianggap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kebetulan acak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SIGNAL JALUR: Jika Eigenvalue &gt; λ_max. Dianggap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ikatan fundamental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4. Pembersihan &amp; Rekonstruksi: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Hanya nilai signal yang dipertahankan untuk membangun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matriks korelasi bersih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Bagaimana Menghitung Nilai Eigen?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1. Matriks Korelasi (C):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Membentuk tabel yang menjabarkan seluruh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korelasi pergerakan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harga antar sepasang koin.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2. Konsep Persamaan Karakteristik: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Mencari besaran skalar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λ (eigenvalue)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dan vektor arah yang memenuhi: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C × v = λ × v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3. Solusi Determinan: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Nilai λ adalah akar dari persamaan determinan: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Det(C - λI) = 0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4. Arti dari Spektrum Hasil: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Nilai λ terbesar mewakili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penggerak pasar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utama (Market Factor).</a:t>
            </a:r>
            <a:endParaRPr lang="en-US" sz="1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Praktek Sederhana Menghitung Eigenvalue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Konteks Dummy: 2 Koin, BTC (Bitcoin) &amp; ETH (Ethereum), korelasi = 0.5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1. Matriks Korelasi (C):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C = [ 1.0  0.5 ]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[ 0.5  1.0 ]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2. Persamaan: Det(C - λI) = 0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(1 - λ)² - (0.5)² = 0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λ² - 2λ + 0.75 = 0  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(λ - 1.5)(λ - 0.5) = 0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3. Hasil Akar Nilai Eigen: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• λ₁ = 1.5 :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Market Factor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(Signal Kuat).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• λ₂ = 0.5 :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Idiosyncratic Risk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(Noise).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Kesimpulan Filtering: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Jika RMT (Random Matrix Theory) mematok batas λ_max = 1.0, maka λ₂ dianggap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Noise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lalu dinolkan, sementara λ₁ dijaga sebagai sinyal sejati.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Bagaimana Menghitung Korelasi?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1. Data Historis (Returns):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Input berupa runtut waktu dari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return harian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aset kripto.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2. Library &amp; Metode Python: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Dihitung menggunakan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Pandas (df.corr())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berbasis koefisien Pearson.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3. Formula Pearson Correlation: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ρ(X,Y) = Cov(X,Y) / (σX × σY)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4. Output Matriks (N x N):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Nilai berkisar antara -1 hingga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 (searah)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 Diagonal selalu 1.</a:t>
            </a:r>
            <a:endParaRPr lang="en-US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Apakah Nilai Eigen Statis?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Apakah Nilai Eigen Sudah Ditentukan (Statis)?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TIDAK. Nilai Eigen diekstrak langsung dari matriks korelasi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saat rebalancing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Proses Dinamis: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Matriks korelasi dihitung dari data terbaru via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rolling window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Batas filter Marchenko-Pastur ikut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dihitung ulang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mengikuti rasio data.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Kesimpulan: Sifat adaptif secara </a:t>
            </a:r>
            <a:pPr indent="0" marL="0">
              <a:buNone/>
            </a:pPr>
            <a:r>
              <a:rPr lang="en-US" sz="1600" b="1" i="1" dirty="0">
                <a:solidFill>
                  <a:srgbClr val="333333"/>
                </a:solidFill>
              </a:rPr>
              <a:t>real-time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merespons perubahan rezim pasar dengan cepat.</a:t>
            </a:r>
            <a:endParaRPr lang="en-US" sz="1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Menentukan Batas Noise (Marchenko-Pastur)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Apa itu Batas Marchenko-Pastur (MP)?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Prediksi bentuk distribusi dari matriks yang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100% acak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(noise).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Menghitung Batas Atas Noise (λ_max):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λ_max = 1 + (1/Q) + 2√(1/Q)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Apa itu Rasio Q?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Q = T / N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(Baris Data / Aset).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Mekanisme Filtering: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Eigenvalue &lt; λ_max :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Dihapus (Noise)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Eigenvalue &gt; λ_max :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Dipertahankan (Sinyal)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Analogi Minimum Spanning Tree (MST)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Membangun Jaringan Jalan Tol Antar Kota: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Hubungkan aset yang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paling dekat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(korelasi terkuat).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Semua koin harus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terhubung satu jaringan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Dilarang membuat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jalan memutar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(tanpa loop/redundansi).</a:t>
            </a:r>
            <a:endParaRPr lang="en-US" sz="1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Mengapa Kita Membutuhkan MST?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Menemukan Titik Kemacetan (Hub Centrality):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Di jaringan tol, kota besar menjadi pusat persimpangan. Di kripto, ini mewakili koin yang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sangat sentral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Jika terjadi kecelakaan di koin sentral, efeknya akan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langsung menular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ke seluruh jaringan.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Solusi Network Markowitz: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Koin sentral akan diberi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hukuman penalti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agar portofolio tetap kokoh saat koin tersebut crash.</a:t>
            </a:r>
            <a:endParaRPr lang="en-US" sz="1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Berapa Nilai "Penalti" (Gamma) yang Optimal?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Apakah Ada Satu Angka Penalti yang Sempurna?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TIDAK. Nilai gamma optimal berubah tergantung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siklus fluktuasi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1. Fase Bull Market (Pasar Menguat):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Penalti berat berisiko menghilangkan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peluang untung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 Gamma optimal cenderung rendah.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2. Fase Bear Market / Crash (Pasar Jatuh):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Keruntuhan koin sentral bisa memicu penularan (</a:t>
            </a:r>
            <a:pPr indent="0" marL="0">
              <a:buNone/>
            </a:pPr>
            <a:r>
              <a:rPr lang="en-US" sz="1600" b="1" i="1" dirty="0">
                <a:solidFill>
                  <a:srgbClr val="333333"/>
                </a:solidFill>
              </a:rPr>
              <a:t>Tail-Risk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). Gamma optimal cenderung tinggi.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Kesimpulan: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Grid Search membiarkan komputer menyesuaikan gamma secara otomatis dengan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data terbaru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Apa itu Classical Markowitz (CM)? (1/2)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Modern Portfolio Theory (MPT) / Mean-Variance Optimization: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Merupakan teori klasik (ditemukan oleh Harry Markowitz tahun 1952) yang mencoba meramu komposisi/bobot aset dalam portofolio dengan tujuan matematika murni: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Memaksimalkan tingkat keuntungan (Return) pada tingkat risiko tertentu, ATAU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Meminimalkan risiko (Variance) pada tingkat keuntungan tertentu.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Asumsi Dasar Classical Markowitz: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Investor diasumsikan sepenuhnya rasional dan benci risiko (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Risk-averse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).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Model ini sangat bergantung pada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matriks kovarians historis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sebagai pedoman utama memprediksi masa depan.</a:t>
            </a:r>
            <a:endParaRPr lang="en-US" sz="1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Mengapa Classical Markowitz Kesulitan? (2/2)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Kelemahan Klasik di Pasar Kripto: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Pasar kripto bersifat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hyper-volatile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dengan korelasi ekor tebal.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Model CM (Classical Markowitz) memakan mentah-mentah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noise acak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tanpa filter, berujung pada kegagalan prediksi.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Evolusi → Network Markowitz: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Mengembangkan CM (Classical Markowitz) dengan membersihkan noise menggunakan RMT (Random Matrix Theory) dan menghukum koin yang rawan menderita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efek contagion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menggunakan MST (Minimum Spanning Tree).</a:t>
            </a:r>
            <a:endParaRPr lang="en-US" sz="1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Detail Perhitungan Korelasi (Pearson)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Bagaimana angka 0.50 didapatkan? (Dummy 3 Hari)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Data Return (X=BTC, Y=ETH):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Hari 1: X=2%, Y=2% | Hari 2: X=-2%, Y=0% | Hari 3: X=0%, Y=-2%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Rata-rata (Mean): X̄ = 0, Ȳ = 0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Tabel Deviasi &amp; Perkalian: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Σ(x-x̄)(y-ȳ) = (2)(2) + (-2)(0) + (0)(-2)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4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Σ(x-x̄)² = (2)² + (-2)² + (0)²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8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Σ(y-ȳ)² = (2)² + (0)² + (-2)²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8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Rumus Korelasi (ρ):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ρ = Σ(dev_x * dev_y) / √(Σdev_x² * Σdev_y²)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ρ = 4 / √(8 * 8) = 4 / 8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0.50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Kesimpulan: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Angka ini menunjukkan arah pergerakan yang searah (positif) namun tidak identik, yang kemudian digunakan sebagai input matriks kovarians.</a:t>
            </a:r>
            <a:endParaRPr lang="en-US" sz="16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Simulasi Sederhana Classical Markowitz (2 Aset)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Tujuan: Mencari bobot (w) untuk risiko terendah (Minimum Variance).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Data Input (Dummy):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A (BTC): Volatilitas (σ₁) = 20% (0.20)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B (ETH): Volatilitas (σ₂) = 30% (0.30)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Korelasi (ρ₁₂): 0.50 (Didapat dari return harian historis)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   • Kovarians (σ₁₂): </a:t>
            </a:r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ρ₁₂ × σ₁ × σ₂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= 0.50 × 0.20 × 0.30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0.03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Rumus Bobot Aset A (w₁):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w₁ = (σ₂² - Cov) / (σ₁² + σ₂² - 2·Cov)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w₁ = (0.09 - 0.03) / (0.04 + 0.09 - 0.06)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w₁ = 0.06 / 0.07 ≈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0.85 (85%)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Hasil Alokasi: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• Bobot BTC: 85%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• Bobot ETH: 15%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Kesimpulan Klasik: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Markowitz akan memilih aset dengan volatilitas lebih rendah (BTC) secara dominan. Namun, jika angka σ₁ dan σ₂ ini mengandung "noise", maka alokasi ini menjadi tidak optimal (Over-concentration).</a:t>
            </a:r>
            <a:endParaRPr lang="en-US" sz="16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Dua Tipe Pendekatan Grid Search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Dua Objektif Optimasi (Return vs Risk):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1. Network Markowitz dengan Target Return (NW - Return Grid Search):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Memaksimalkan capaian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imbal hasil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portofolio.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Lebih Agresif untuk mengeksploitasi reli pada pasar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Bullish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2. Network Markowitz dengan Target Risiko (NW - Risk Grid Search):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Menekan parameter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risiko total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hingga minimal.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Lebih Defensif untuk meredam fluktuasi saat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Crypto Winter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Penanganan Data Kosong (Missing Values)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Pertanyaan: 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"Beberapa koin seperti Binance/EOS belum rilis di awal 2017 sehingga datanya kosong. Bukankah backward-fill memalsukan harga dan merusak matriks?"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Jawaban (Kenapa RMT sangat Krusial):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1. Praktik pengisian data diam (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backward fill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) memang menciptakan rentetan nilai harga yang statis.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2. Namun, kehebatan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Random Matrix Theory (RMT)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diuji di sini! Karena data yang datar sama sekali tidak punya korelasi nyata.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3. RMT otomatis akan mendeteksi korelasi buatan tersebut sebagai probabilitas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Noise Acak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, lalu membuangnya menjadi 0.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4. Hasilnya, matriks korelasi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terselamatkan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dan tidak tercemar oleh cacat kelengkapan data.</a:t>
            </a:r>
            <a:endParaRPr lang="en-US" sz="18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Mengapa Menyertakan Tether (USDT)? (1/2)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Pertanyaan: 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"Tether (USDT) itu stablecoin yang nilainya selalu fix ke 1 USD. Apakah tidak berbuat curang?"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Jawaban (Dinamika Portofolio Cerdas):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Model ini mensimulasikan perilaku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Robo-Advisory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institusional.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Ketika pasar anjlok ekstrem, investor akan melarikan senjatanya ke posisi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tunai (USDT)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sebagai evakuasi risiko.</a:t>
            </a:r>
            <a:endParaRPr lang="en-US" sz="18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Mengapa Menyertakan Tether (USDT)? (2/2)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3. Algoritma jaringan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Network Markowitz GS (Grid Search)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dilatih secara matematis; jika mendeteksi korelasi ancaman kolaps merambat ke semua altcoin, ia akan melempar alokasi modalnya menuju node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USDT (Tether)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sebagai langkah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evakuasi otomatis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(Shock-Absorber).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4. Hal ini yang membuat performa Risk-GS (Grid Search) sangat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tangguh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dari serangan Crypto Winter, suatu kapabilitas pertahanan yang tidak dipahami oleh model ortodoks murni Markowitz.</a:t>
            </a:r>
            <a:endParaRPr lang="en-US" sz="18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Bukti Empiris Non-Stationarity Pasar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Masalah: 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Kenapa harus menggunakan model Adaptif (Dynamic Gamma)?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Bukti dari Grid Search: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Data menunjukkan nilai Gamma (γ) optimal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terus bergeser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setiap periode rebalancing.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Penggunaan γ statis tidak cukup untuk menangkap perubahan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struktur korelasi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yang sangat cepat di pasar kripto.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Ini membenarkan bahwa pasar kripto membutuhkan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kalibrasi otomatis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secara temporal.</a:t>
            </a:r>
            <a:endParaRPr lang="en-US" sz="18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Jaringan sebagai 'Shock-Absorber'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Konsep Teoritis: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Eigenvector Centrality mengidentifikasi koin yang menjadi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hub risiko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Penalti Gamma memaksa portofolio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menjauhi aset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yang terlalu dominan secara sistemik saat volatilitas tinggi.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Hasil pada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Tabel 5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membuktikan bahwa saat crash, distribusi kerugian ekor model NW (Network Markowitz) jauh lebih terjaga.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Kesimpulan: Topologi jaringan memberikan sinyal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diversifikasi akurat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daripada sekadar variansi harga.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35</Slides>
  <Notes>35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3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2026-04-08T09:48:23Z</dcterms:created>
  <dcterms:modified xsi:type="dcterms:W3CDTF">2026-04-08T09:48:23Z</dcterms:modified>
</cp:coreProperties>
</file>