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8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2" Type="http://schemas.openxmlformats.org/officeDocument/2006/relationships/slide" Target="slide16.xml"/><Relationship Id="rId13" Type="http://schemas.openxmlformats.org/officeDocument/2006/relationships/slide" Target="slide17.xml"/><Relationship Id="rId14" Type="http://schemas.openxmlformats.org/officeDocument/2006/relationships/slide" Target="slide3.xml"/><Relationship Id="rId15" Type="http://schemas.openxmlformats.org/officeDocument/2006/relationships/slide" Target="slide61.xml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33.xml"/><Relationship Id="rId3" Type="http://schemas.openxmlformats.org/officeDocument/2006/relationships/slide" Target="slide34.xml"/><Relationship Id="rId4" Type="http://schemas.openxmlformats.org/officeDocument/2006/relationships/slide" Target="slide36.xml"/><Relationship Id="rId5" Type="http://schemas.openxmlformats.org/officeDocument/2006/relationships/slide" Target="slide18.xml"/><Relationship Id="rId6" Type="http://schemas.openxmlformats.org/officeDocument/2006/relationships/slide" Target="slide25.xml"/><Relationship Id="rId7" Type="http://schemas.openxmlformats.org/officeDocument/2006/relationships/slide" Target="slide27.xml"/><Relationship Id="rId8" Type="http://schemas.openxmlformats.org/officeDocument/2006/relationships/slide" Target="slide28.xml"/><Relationship Id="rId9" Type="http://schemas.openxmlformats.org/officeDocument/2006/relationships/slide" Target="slide37.xml"/><Relationship Id="rId10" Type="http://schemas.openxmlformats.org/officeDocument/2006/relationships/slide" Target="slide49.xml"/><Relationship Id="rId11" Type="http://schemas.openxmlformats.org/officeDocument/2006/relationships/slide" Target="slide50.xml"/><Relationship Id="rId12" Type="http://schemas.openxmlformats.org/officeDocument/2006/relationships/slide" Target="slide57.xml"/><Relationship Id="rId13" Type="http://schemas.openxmlformats.org/officeDocument/2006/relationships/slide" Target="slide58.xml"/><Relationship Id="rId14" Type="http://schemas.openxmlformats.org/officeDocument/2006/relationships/slide" Target="slide59.xml"/><Relationship Id="rId15" Type="http://schemas.openxmlformats.org/officeDocument/2006/relationships/slide" Target="slide60.xml"/><Relationship Id="rId16" Type="http://schemas.openxmlformats.org/officeDocument/2006/relationships/slide" Target="slide2.xml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3.xml"/><Relationship Id="rId3" Type="http://schemas.openxmlformats.org/officeDocument/2006/relationships/slide" Target="slide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3" Type="http://schemas.openxmlformats.org/officeDocument/2006/relationships/slide" Target="slide2.xml"/><Relationship Id="rId1" Type="http://schemas.openxmlformats.org/officeDocument/2006/relationships/image" Target="../media/image-8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3.xml"/><Relationship Id="rId7" Type="http://schemas.openxmlformats.org/officeDocument/2006/relationships/slide" Target="slide2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3.xml"/><Relationship Id="rId3" Type="http://schemas.openxmlformats.org/officeDocument/2006/relationships/slide" Target="slide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3.xml"/><Relationship Id="rId3" Type="http://schemas.openxmlformats.org/officeDocument/2006/relationships/slide" Target="slide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" Target="slide3.xml"/><Relationship Id="rId3" Type="http://schemas.openxmlformats.org/officeDocument/2006/relationships/slide" Target="slide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3.xml"/><Relationship Id="rId3" Type="http://schemas.openxmlformats.org/officeDocument/2006/relationships/slide" Target="slide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3.xml"/><Relationship Id="rId3" Type="http://schemas.openxmlformats.org/officeDocument/2006/relationships/slide" Target="slide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57.xml"/><Relationship Id="rId2" Type="http://schemas.openxmlformats.org/officeDocument/2006/relationships/slide" Target="slide58.xml"/><Relationship Id="rId3" Type="http://schemas.openxmlformats.org/officeDocument/2006/relationships/slide" Target="slide59.xml"/><Relationship Id="rId4" Type="http://schemas.openxmlformats.org/officeDocument/2006/relationships/slide" Target="slide60.xml"/><Relationship Id="rId5" Type="http://schemas.openxmlformats.org/officeDocument/2006/relationships/slide" Target="slide3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3.xml"/><Relationship Id="rId3" Type="http://schemas.openxmlformats.org/officeDocument/2006/relationships/slide" Target="slide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2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2-Stage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Penelitian Terdahulu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Kerangka Pemikiran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 Penelitian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(Statis)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(2-Stage GS)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Analisis per Fase Pasar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003366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END (TERIMA KASIH)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(BAGIAN 1)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Parameter Gamma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(BAGIAN 2)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2-Stage Grid Search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Value at Risk (VaR)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Rachev Ratio</a:t>
            </a:r>
            <a:endParaRPr lang="en-US" sz="1600" dirty="0"/>
          </a:p>
        </p:txBody>
      </p:sp>
      <p:sp>
        <p:nvSpPr>
          <p:cNvPr id="5" name="Text 3">
            <a:hlinkClick r:id="rId16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3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6" name="Text 4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2">
            <a:hlinkClick r:id="rId3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6634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Statistik Dataset: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14 Sept 2017 - 17 Okt 2019 </a:t>
            </a:r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| Total: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764 observasi harian</a:t>
            </a:r>
            <a:endParaRPr lang="en-US" sz="1200" dirty="0"/>
          </a:p>
        </p:txBody>
      </p:sp>
      <p:sp>
        <p:nvSpPr>
          <p:cNvPr id="5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6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(Adaptive Tuned):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2-Stage GS (VAR, Sharpe, Rachev)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7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3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3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3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3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Adaptive Tuned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2-Stage Grid Search (Coarse-to-Fine):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Tahap 1 (Coarse): Mencari range optimal (W, γ) secara makro.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Tahap 2 (Fine): Zoom-in pencarian di sekitar titik terbaik Stage 1.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Tuning spesifik untuk 3 Target: VAR, SHARPE, dan RACHEV.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❑ Menjamin parameter terbaik tanpa beban komputasi brute-force penuh.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Objektif &amp; Resiliensi: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Multi-Metric: Mencakup aspek risiko (VAR), efisiensi (Sharpe), dan ekor distribusi (Rachev).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Adaptabilitas: Menyesuaikan Window Size (stabilitas) &amp; Gamma (penalti jaringan).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Konsistensi: Validasi melalui Fine-Search memastikan solusi bukan noise lokal.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7E22"/>
                </a:solidFill>
              </a:rPr>
              <a:t>❑ Hasil: Strategi yang lebih tangguh di berbagai fase pasar (Bearish, Recovery, Stable).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Hasil Comparison &amp; Grid Search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6" name="Text 4">
            <a:hlinkClick r:id="rId3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 (Multi-Metric)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 vs benchmark.</a:t>
            </a:r>
            <a:endParaRPr lang="en-US" sz="1700" dirty="0"/>
          </a:p>
          <a:p>
            <a:pPr indent="0" marL="0">
              <a:buNone/>
            </a:pPr>
            <a:r>
              <a:rPr lang="en-US" sz="1700" b="1" u="sng" dirty="0">
                <a:solidFill>
                  <a:srgbClr val="C0392B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2. Value at Risk (VaR 95%):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resiliensi risiko/batas bawah.</a:t>
            </a:r>
            <a:endParaRPr lang="en-US" sz="1700" dirty="0"/>
          </a:p>
          <a:p>
            <a:pPr indent="0" marL="0">
              <a:buNone/>
            </a:pPr>
            <a:r>
              <a:rPr lang="en-US" sz="1700" b="1" u="sng" dirty="0">
                <a:solidFill>
                  <a:srgbClr val="27AE60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efisiensi imbal hasil per unit risiko.</a:t>
            </a:r>
            <a:endParaRPr lang="en-US" sz="1700" dirty="0"/>
          </a:p>
          <a:p>
            <a:pPr indent="0" marL="0">
              <a:buNone/>
            </a:pPr>
            <a:r>
              <a:rPr lang="en-US" sz="1700" b="1" u="sng" dirty="0">
                <a:solidFill>
                  <a:srgbClr val="8E44AD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perbandingan ekor distribusi (Fat-Tails).</a:t>
            </a:r>
            <a:endParaRPr lang="en-US" sz="1700" dirty="0"/>
          </a:p>
          <a:p>
            <a:pPr indent="0" marL="0">
              <a:buNone/>
            </a:pPr>
            <a:r>
              <a:rPr lang="en-US" sz="1400" b="1" dirty="0">
                <a:solidFill>
                  <a:srgbClr val="D35400"/>
                </a:solidFill>
              </a:rPr>
              <a:t>Justifikasi Multi-Objective:</a:t>
            </a:r>
            <a:endParaRPr lang="en-US" sz="1700" dirty="0"/>
          </a:p>
          <a:p>
            <a:pPr indent="0" marL="0">
              <a:buNone/>
            </a:pPr>
            <a:r>
              <a:rPr lang="en-US" sz="1400" i="1" dirty="0">
                <a:solidFill>
                  <a:srgbClr val="333333"/>
                </a:solidFill>
              </a:rPr>
              <a:t>Pasar kripto yang dinamis memerlukan tuning parameter yang berbeda tergantung apakah investor memprioritaskan keamanan (VaR), efisiensi (Sharpe), atau pemulihan (Rachev).</a:t>
            </a:r>
            <a:endParaRPr lang="en-US" sz="1700" dirty="0"/>
          </a:p>
        </p:txBody>
      </p:sp>
      <p:sp>
        <p:nvSpPr>
          <p:cNvPr id="4" name="Text 2">
            <a:hlinkClick r:id="rId5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Evaluasi Berdasarkan Fase Pasar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Pengujian pada 3 Kondisi Berbeda: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 Fase Bearish (Jan 2018 - Mar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ketahanan model saat pasar jatuh tajam.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2. Fase Recovery (Apr 2019 - Jun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kecepatan adaptasi model saat tren berbalik positif.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Fase Stable (Jul 2019 - Okt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konsistensi model dalam kondisi pasar mendatar.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35400"/>
                </a:solidFill>
              </a:rPr>
              <a:t>Metodologi Panel Performance: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✔ Panel A (Sharpe): Membandingkan efisiensi antar fase.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✔ Panel B (Rachev): Membandingkan resiliensi ekor distribusi.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000000"/>
                </a:solidFill>
              </a:rPr>
              <a:t>✔ Kesimpulan: NW Tuned menunjukkan stabilitas lebih tinggi dibanding benchmark statis di setiap fase.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3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Justifikasi Parameter Gamma (γ)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Berdasarkan Teori Giudici et al. (2020):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Parameter γ berfungsi sebagai pengukur aversi tingkat risiko sistemik investor.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Batas Bawah (γ = 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Model kembali ke Markowitz Tradisional. Investor sepenuhnya mengabaikan posisi aset dalam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Batas Atas (γ = 1):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Investor memberikan bobot yang SETARA antara risiko individual (volatilitas) dan risiko sistemik (sentralitas).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Signifikansi Nilai 1: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Batas "Aversi Risiko Tinggi" yang masuk akal secara konseptual.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Risiko penularan (contagion) dianggap sama pentingnya dengan fluktuasi harga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Optimalitas: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Menjaga model agar tidak hanya mengejar return, tapi juga memastikan portofolio tidak hancur saat hub utama pasar kolaps.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6" name="Text 4">
            <a:hlinkClick r:id="rId3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7" name="Text 5">
            <a:hlinkClick r:id="rId4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2-Stage Grid Search (Coarse-to-Fine)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Menemukan kombinasi (Window, γ) paling presisi dengan efisiensi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Stage 1: Coarse Search (Pemindaian Makro)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Mencari kandidat di seluruh ruang parameter dengan langkah (step) lebar.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Contoh: Window dipantau setiap kelipatan 5 hari, dan Gamma setiap 0.2 unit.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Output: Menentukan 'zona potensial' terbaik secara cepat.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Stage 2: Fine Search (Zoom-in Mikro)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Melakukan pencarian mendalam hanya di sekitar koordinat terbaik Stage 1.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Contoh: Jika koordinat terbaik Stage 1 adalah (W:40, γ:0.6), Stage 2 mencari di rentang presisi (W: 36-44) dan (γ: 0.55-0.65).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❑ Output: Mendapatkan titik absolut paling optimal.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Keunggulan Eksperimen: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✔ Akurasi: Jauh lebih detail dibanding grid search tunggal konvensional.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✔ Efisiensi: Mengurangi total percobaan komputasi hingga &gt;60% dibanding brute-force.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✔ Multi-Target: Parameter disesuaikan spesifik untuk target VAR, Sharpe, atau Rachev.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Value at Risk (VaR)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Berapa potensi kerugian maksimal dalam kondisi pasar normal?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Value at Risk (VaR) mengukur ambang batas kerugian maksimal pada tingkat kepercayaan tertentu (Confidence Level 95%) dalam periode harian.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Metode Simulasi Historis (Paling Sederhana):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Mengurutkan 100 hari return dari terburuk ke terbaik, lalu mengambil nilai persentil ke-5.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(Modal: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terburuk urutan ke-5 (P5): -8% (-0.08)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Perhitungan VaR (95%): Rp 10.000.000 × 0.08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Rp 800.000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4. Interpretasi Hasil: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Kita yakin 95% bahwa kerugian harian tidak akan melebihi Rp 800.000. Namun, ada 5% risiko (ekstrem) di masa depan di mana kerugian bisa lebih besar dari angka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Rachev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Rachev Ratio mengukur rasio potensi 'hadiah ekstrem' (Top 5% average) terhadap 'risiko ekstrem' (Bottom 5% average loss).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2. Skenario A: Normal/Bullish (Menguntungkan):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Profit (Top 5%): +12% | Avg. Loss (Bottom 5%): -8%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12% / 8%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1.50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Skenario B: Extreme Bear Market (Keduanya Rugi):</a:t>
            </a:r>
            <a:endParaRPr lang="en-US" sz="16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</a:rPr>
              <a:t>   • Jika kondisi pasar hancur total, bahkan return terbaik pun bisa negatif.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Return (Top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-2% (Rugi)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| Avg. Loss (Bottom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-12% (Rugi)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-2% / 12%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-0.16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negatif (Skenario B) menunjukkan strategi gagal total memberikan profit. Sebaliknya, nilai &gt; 1 (Skenario A) menunjukkan portofolio memiliki potensi pemulihan yang jauh lebih besar daripada risiko kejatuhannya.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667512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Lampiran</a:t>
            </a:r>
            <a:endParaRPr lang="en-US" sz="1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2026-04-11T20:59:32Z</dcterms:created>
  <dcterms:modified xsi:type="dcterms:W3CDTF">2026-04-11T20:59:32Z</dcterms:modified>
</cp:coreProperties>
</file>