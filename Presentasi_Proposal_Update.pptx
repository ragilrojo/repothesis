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1.xml"/><Relationship Id="rId5" Type="http://schemas.openxmlformats.org/officeDocument/2006/relationships/slide" Target="slide12.xml"/><Relationship Id="rId6" Type="http://schemas.openxmlformats.org/officeDocument/2006/relationships/slide" Target="slide13.xml"/><Relationship Id="rId7" Type="http://schemas.openxmlformats.org/officeDocument/2006/relationships/slide" Target="slide15.xml"/><Relationship Id="rId8" Type="http://schemas.openxmlformats.org/officeDocument/2006/relationships/slide" Target="slide16.xml"/><Relationship Id="rId9" Type="http://schemas.openxmlformats.org/officeDocument/2006/relationships/slide" Target="slide3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32.xml"/><Relationship Id="rId3" Type="http://schemas.openxmlformats.org/officeDocument/2006/relationships/slide" Target="slide33.xml"/><Relationship Id="rId4" Type="http://schemas.openxmlformats.org/officeDocument/2006/relationships/slide" Target="slide35.xml"/><Relationship Id="rId5" Type="http://schemas.openxmlformats.org/officeDocument/2006/relationships/slide" Target="slide55.xml"/><Relationship Id="rId6" Type="http://schemas.openxmlformats.org/officeDocument/2006/relationships/slide" Target="slide17.xml"/><Relationship Id="rId7" Type="http://schemas.openxmlformats.org/officeDocument/2006/relationships/slide" Target="slide24.xml"/><Relationship Id="rId8" Type="http://schemas.openxmlformats.org/officeDocument/2006/relationships/slide" Target="slide26.xml"/><Relationship Id="rId9" Type="http://schemas.openxmlformats.org/officeDocument/2006/relationships/slide" Target="slide27.xml"/><Relationship Id="rId10" Type="http://schemas.openxmlformats.org/officeDocument/2006/relationships/slide" Target="slide37.xml"/><Relationship Id="rId11" Type="http://schemas.openxmlformats.org/officeDocument/2006/relationships/slide" Target="slide48.xml"/><Relationship Id="rId12" Type="http://schemas.openxmlformats.org/officeDocument/2006/relationships/slide" Target="slide49.xml"/><Relationship Id="rId13" Type="http://schemas.openxmlformats.org/officeDocument/2006/relationships/slide" Target="slide56.xml"/><Relationship Id="rId14" Type="http://schemas.openxmlformats.org/officeDocument/2006/relationships/slide" Target="slide57.xml"/><Relationship Id="rId15" Type="http://schemas.openxmlformats.org/officeDocument/2006/relationships/slide" Target="slide58.xml"/><Relationship Id="rId16" Type="http://schemas.openxmlformats.org/officeDocument/2006/relationships/slide" Target="slide59.xml"/><Relationship Id="rId17" Type="http://schemas.openxmlformats.org/officeDocument/2006/relationships/slide" Target="slide2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4" name="Text 2">
            <a:hlinkClick r:id="rId17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Optimasi Bayesian Simultan: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Tuning cerdas pasangan (W, γ) secara bersamaan (bukan brute-force).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Parameter 1: Window (W) [20 - 120 hari].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Parameter 2: Gamma (γ) [0.0 - 2.0].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❑ Jauh lebih cepat &amp; efisien dibanding Grid Search tradisional.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Efisiensi &amp; Interaksi Parameter: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Akurasi: Menemukan 'sweet spot' hubungan antara panjang window vs tingkat penalti.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Fleksibilitas: Menangani data campuran (Integer Window &amp; Float Gamma).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Kecepatan: Menghemat waktu komputasi hingga &gt;70%.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7E22"/>
                </a:solidFill>
              </a:rPr>
              <a:t>❑ Tujuan: Adaptasi presisi terhadap rezim pasar kripto yang volatil.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akumulatif. Digunakan untuk membandingkan pertumbuhan modal strategi vs benchmark CRIX.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Potensi kerugian maksimal (batas bawah) pada tingkat kepercayaan 95%. Membuktikan resiliensi model saat kondisi pasar crash.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Imbal hasil per unit risiko (volatilitas). Semakin tinggi, semakin baik kualitas efisiensi portofolio dalam menghasilkan profit.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Rasio potensi keuntungan ekstrem vs kerugian ekstrem. Sangat krusial karena data kripto memiliki 'Fat Tails' (distribusi tidak normal).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2026-04-09T21:59:13Z</dcterms:created>
  <dcterms:modified xsi:type="dcterms:W3CDTF">2026-04-09T21:59:13Z</dcterms:modified>
</cp:coreProperties>
</file>