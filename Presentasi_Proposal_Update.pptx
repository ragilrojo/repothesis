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notesMasterIdLst>
    <p:notesMasterId r:id="rId5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4.xml"/><Relationship Id="rId3" Type="http://schemas.openxmlformats.org/officeDocument/2006/relationships/slide" Target="slide5.xml"/><Relationship Id="rId4" Type="http://schemas.openxmlformats.org/officeDocument/2006/relationships/slide" Target="slide10.xml"/><Relationship Id="rId5" Type="http://schemas.openxmlformats.org/officeDocument/2006/relationships/slide" Target="slide11.xml"/><Relationship Id="rId6" Type="http://schemas.openxmlformats.org/officeDocument/2006/relationships/slide" Target="slide12.xml"/><Relationship Id="rId7" Type="http://schemas.openxmlformats.org/officeDocument/2006/relationships/slide" Target="slide14.xml"/><Relationship Id="rId8" Type="http://schemas.openxmlformats.org/officeDocument/2006/relationships/slide" Target="slide15.xml"/><Relationship Id="rId9" Type="http://schemas.openxmlformats.org/officeDocument/2006/relationships/slide" Target="slide30.xml"/><Relationship Id="rId10" Type="http://schemas.openxmlformats.org/officeDocument/2006/relationships/slide" Target="slide17.xml"/><Relationship Id="rId11" Type="http://schemas.openxmlformats.org/officeDocument/2006/relationships/slide" Target="slide40.xml"/><Relationship Id="rId12" Type="http://schemas.openxmlformats.org/officeDocument/2006/relationships/slide" Target="slide45.xml"/><Relationship Id="rId13" Type="http://schemas.openxmlformats.org/officeDocument/2006/relationships/slide" Target="slide36.xml"/><Relationship Id="rId14" Type="http://schemas.openxmlformats.org/officeDocument/2006/relationships/slide" Target="slide16.xml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10.xml"/><Relationship Id="rId2" Type="http://schemas.openxmlformats.org/officeDocument/2006/relationships/slide" Target="slide11.xml"/><Relationship Id="rId3" Type="http://schemas.openxmlformats.org/officeDocument/2006/relationships/slide" Target="slide12.xml"/><Relationship Id="rId4" Type="http://schemas.openxmlformats.org/officeDocument/2006/relationships/slide" Target="slide13.xml"/><Relationship Id="rId5" Type="http://schemas.openxmlformats.org/officeDocument/2006/relationships/slide" Target="slide14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3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Rolling Window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(Detailed Outline)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I. PENDAHULUAN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Latar Belakang &amp; Motivasi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Masalah "Noise" di Kripto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Landasan Teori &amp; Literatur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II. STRATEGI PORTOFOLIO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Equally Weighted (EW)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Classical Markowitz (CM)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Graphical Lasso (GM)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Network Markowitz (Adaptif)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75488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III. EVALUASI PERFORMA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Matriks Sharpe, VaR, Rachev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IV. LAMPIRAN TEKNIS (APPENDIX)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EW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Random Matrix Theory (RMT)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Minimum Spanning Tree (MST)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Penalty &amp; Centrality Logic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60/40 Weight Shift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V. PENUTUP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Sesi Tanya Jawab (Q&amp;A)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 (Fear Of Missing Out),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Tinjauan Portofolio &amp; Risiko: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Diversifikasi aset untuk optimasi return-risiko.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fluktuasi harga pasar.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Kovarians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pergerakan bersama aset.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Pendekatan Struktur Jaringan: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Filter noise untuk kestabilan matriks.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Jaringan korelasi terkuat tanpa loop.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Centrality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Metrik risiko penularan sistemik.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(Minimum Spanning Tree)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(Modern Portfolio Theory)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1. Kelompok Baseline: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EW (Equally Weighted)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CM (Classical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2. Kelompok Regularisasi: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GM (Glasso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3. Kelompok Network (Statis):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Statis (γ fixed)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4. Kelompok Network (Adaptif):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Adaptif (Grid Search)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Adaptif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Mekanisme Optimasi Dinamis: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Rolling Window: 30, 60, 90, 120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Rebalancing: Setiap 7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Transaction Cost: 0.1% (10 basis points).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Grid Search γ: Rentang [0.0 - 2.0].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Split Validasi Internal (80/20):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Training: Estimasi bobot gamma.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Validation: Seleksi performa optimal.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Fallback: Menggunakan strategi EW (Equally Weighted).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Tujuan: Adaptasi rezim pasar.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&amp; Kalkulasi Lampiran]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Sharpe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Imbal hasil per unit risiko. Semakin besar menunjukkan kualitas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efisiensi portofolio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Value at Risk (VaR):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Batas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kerugian maksimal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kondiri crash. Semakin kecil tandanya perisai sukses.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3. Rachev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Membandingkan potensi 'Profit Ekstrem' vs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Ancaman Loss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 Menilai asimetri ekor.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 (Random Matrix Theory)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Distribusi MP (Marchenko-Pastur).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(Random Matrix Theory)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Koin, BTC (Bitcoin) &amp; ETH (Ethereum),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(Random Matrix Theory)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(Classical Markowitz)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(Classical Markowitz) dengan membersihkan noise menggunakan RMT (Random Matrix Theory)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menggunakan MST (Minimum Spanning Tree).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Perhitungan Korelasi (Pearson)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angka 0.50 didapatkan? (Dummy 3 Hari)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Return (X=BTC, Y=ETH):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X=2%, Y=2% | Hari 2: X=-2%, Y=0% | Hari 3: X=0%, Y=-2%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(Mean): X̄ = 0, Ȳ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Tabel Deviasi &amp; Perkalian: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Σ(x-x̄)(y-ȳ) = (2)(2) + (-2)(0) + (0)(-2)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Σ(x-x̄)² = (2)² + (-2)² + (0)²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Σ(y-ȳ)² = (2)² + (0)² + (-2)²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Korelasi (ρ):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Σ(dev_x * dev_y) / √(Σdev_x² * Σdev_y²)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4 / √(8 * 8) = 4 / 8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Angka ini menunjukkan arah pergerakan yang searah (positif) namun tidak identik, yang kemudian digunakan sebagai input matriks kovarians.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Equally Weighted (EW)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Strategi 1/N: Alokasi Tanpa Rumit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Logika Dasar: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Membagi seluruh modal secara merata tanpa melihat performa masa lalu.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Simulasi (Dummy):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Total Modal: Rp 100.000.000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Jumlah Aset (N): 5 (BTC, ETH, XRP, LTC, USDT)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Bobot Tiap Aset: 1/5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(Tetap)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Sebaran Modal: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BTC: Rp 20jt | ETH: Rp 20jt | XRP: Rp 20jt | dst.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4. Mengapa EW Masuk Baseline?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Tidak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error estimasi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karena tidak menghitung korelasi.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   • Benchmark yang sangat tangguh; model kompleks harus bisa mengalahkan EW untuk dianggap valid.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Sederhana Classical Markowitz (2 Aset)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Mencari bobot (w) untuk risiko terendah (Minimum Variance).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Input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(BTC): Volatilitas (σ₁) = 20% (0.20)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(ETH): Volatilitas (σ₂) = 30% (0.30)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Korelasi (ρ₁₂): 0.50 (Didapat dari return harian historis)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Kovarians (σ₁₂):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ρ₁₂ × σ₁ × σ₂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= 0.50 × 0.20 ×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0.03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Bobot Aset A (w₁):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(σ₂² - Cov) / (σ₁² + σ₂² - 2·Cov)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(0.09 - 0.03) / (0.04 + 0.09 - 0.06)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0.06 / 0.07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0.85 (85%)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Hasil Alokasi: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BTC: 85%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ETH: 15%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 Klasik: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Markowitz akan memilih aset dengan volatilitas lebih rendah (BTC) secara dominan. Namun, jika angka σ₁ dan σ₂ ini mengandung "noise", maka alokasi ini menjadi tidak optimal (Over-concentration).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(1/2: Korelasi)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Membuang korelasi palsu (noise) untuk mendapatkan sinyal pasar murni.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Matriks Korelasi Sebelum GLasso (Dirty):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0.70   0.08 ]  &lt;-- 0.08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[ 0.70   1.00   0.05 ]  &lt;-- 0.05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[ 0.08   0.05   1.00 ]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Proses Penalti (λ):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Algoritma GLasso menekan korelasi lemah menjadi nol.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Matriks Hasil GLasso (Clean/Sparse):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0.65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[ 0.65   1.00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[ 0.00   0.00   1.00 ]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(2/2: Dampak Bobot)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Bagaimana 'Pembersihan' mengubah alokasi modal?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4. Simulasi Perubahan Bobot (Weight Shift):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Tanpa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60%, ETH: 30%,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DOGE: 10%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(Tertipu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Dengan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65%, ETH: 35%,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DOGE: 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(Fokus pada korelasi sejati).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Kesimpulan &amp; Manfaat: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Pembersihan noise melalui GLasso memastikan modal tidak dialokasikan ke aset yang hanya terlihat menguntungkan secara statistik sesaat (spurious divergence), melainkan tetap pada struktur pasar yang kokoh.</a:t>
            </a:r>
            <a:endParaRPr lang="en-US" sz="1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Network Markowitz (NW)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Mengurangi risiko sistemik dengan menghukum koin 'pusat' (hub).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Jaringan (MST):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Bayangkan 3 Koin: BTC, ETH, dan ADA.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terhubung ke ETH dan ADA (BTC adalah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Hub utama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Centrality (EC): BTC=0.8, ETH=0.4, ADA=0.4.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Perbandingan Alokasi: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Classical Markowitz: Melirik BTC karena paling stabil, bobot bisa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70%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Network Markowitz (γ=1.0): Mendeteksi BTC sebagai titik bahaya penularan. Bobot BTC dipangkas menjadi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Mekanisme 'Hukuman' (Penalty):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Risiko Baru = Risiko Harga + (γ × Centrality)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Hasil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Modal dialihkan ke ETH/ADA yang lebih 'pinggiran' (peripheral). Portofolio tidak hancur total jika 'Hub' (BTC) mengalami crash ekstrem.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Kalkulasi Penentuan Bobot NW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'Penalti' mengubah angka bobot secara konkret?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Aset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(Hub): Volatilitas = 20%, Centrality (EC) = 0.8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(Peripheral): Volatilitas = 30%, Centrality (EC) = 0.2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Parameter Gamma (γ)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Perhitungan Risiko Penyesuaian (Adjusted Risk):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A = 0.20 + (0.5 × 0.8)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0.60 (Meningkat)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B = 0.30 + (0.5 × 0.2)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0.40 (Relatif Stabil)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Pergeseran Bobot (Weight Shift):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(Kuno):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 → 40% (NW)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B (Kuno):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 → 60% (NW)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Inti Logika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Aset A dihukum bukan karena harganya tidak stabil, tapi karena ia adalah 'pusat kemacetan' risiko. Model secara matematis memindahkan modal ke Aset B untuk proteksi sistemik.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&amp; Penjabaran Bobot (60% vs 40%)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Menggunakan Metode Alokasi Volatilitas Terbalik (Inverse Volatility):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003366"/>
                </a:solidFill>
              </a:rPr>
              <a:t>Rumus: Bobot (w) = (1 / Risiko) / Total (1 / Risiko)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1. Perhitungan Skenario Klasik (Tanpa Penalti):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0.20) → 1 / 0.20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5.00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0.30) → 1 /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3.33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5.00 / (5.00 + 3.33) = 5.00 / 8.33 ≈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2. Perhitungan Skenario Network (Gamma 0.5):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0.60) → 1 / 0.60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1.67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Turun)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0.40) → 1 / 0.40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2.50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Naik)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1.67 / (1.67 + 2.50) = 1.67 / 4.17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Matematis: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Model ini secara adil memberikan porsi lebih besar pada aset yang memiliki skor gabungan 'Risiko + Penalti' yang paling kecil.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NW vs CM - Hubungan dengan Korelasi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 Penting: Apakah NW mengesampingkan korelasi?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Jawaban: TIDAK. NW justru menggunakan korelasi secara lebih cerdas.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Perbandingan Alur Kerja: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Classical Markowitz (CM):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Korelasi Mentah → Matriks Kovarians → Bobot Portofolio.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Network Markowitz (NW):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Korelasi Mentah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Saring Noise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(Membersihkan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Korelasi Bersih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Bangun MST (Network)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(Melihat peta hubungan antar koin).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Struktur Network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Penalty Centrality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(Menimbang risiko penularan).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Gabungan → Optimasi Markowitz Akhir.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Kesimpulan: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NW tidak membuang korelasi; ia 'mengolah' korelasi menjadi peta jaringan untuk mendeteksi risiko sistemik yang tidak terlihat oleh CM biasa.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Detail Filter RMT (Pembersihan Noise)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Analogi: Menghilangkan suara 'kresek' radio agar lagu terdengar jernih.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Korelasi Mentah (Dirty Matrix):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ETH   : 0.75 (Ikatan Fundamental)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DOGE  : 0.12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vs PEPE  : 0.08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Uji Batas RMT (Marchenko-Pastur Distribution):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Rumus RMT menghitung 'Ambang Batas Keacakan' (Threshold).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Misalkan hasil hitung batas noise (λ_max)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0.15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Proses Pembersihan (Filtering):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0.75 &gt; 0.15  →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DIJAGA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Sinyal Pasar).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0.12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0.08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Dengan RMT, model hanya akan membangun portofolio berdasarkan 'Gema Fundamental' aset, bukan berdasarkan 'Kebetulan Statistik' yang sering menjebak investor di pasar kripto.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Batas Noise (λ_max)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Batas ini ditentukan menggunakan Distribusi Marchenko-Pastur: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λ_max = σ² × (1 + √(1/Q))²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Komponen Rasio Q: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• Q = T / 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 = Jumlah hari (Observasi)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 = Jumlah koin (Aset)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Contoh Simulasi: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Kita punya data 10 koin (N=10) selama 1000 hari (T=1000).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1. Hitung Q: 1000 / 10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2. Hitung Akar: √(1/100)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3. Hitung λ_max: (1 + 0.1)² = 1.1²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1.21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Penerapan: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Setiap Nilai Eigen dari matriks korelasi yang nilainya di bawah 1.21 akan dianggap sebagai noise dan dibersihkan dari model.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Membangun MST (Network Mapping)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korelasi berubah menjadi peta jaringan?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Konversi Korelasi ke Jarak (Metric Distance):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Semakin tinggi korelasi → Semakin dekat jaraknya (riferensi: Mantegna, 1999).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ETH (Korelasi 0.90)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0.45 (Sangat 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LTC (Korelasi 0.85)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0.55 (Dekat)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- XRP (Korelasi 0.40) → Jarak: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1.10 (Jauh)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Menghubungkan Titik (Kruskal's Algorithm):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1: Hubungkan BTC &amp; ETH (Jalur Terkuat).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2: Hubungkan BTC &amp; LTC (Jalur Kedua).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3: Hubungkan ETH &amp; XRP (Jalur Ketiga).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Ciri Khas MST: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Hanya menyisakan (N-1) koneksi terkuat dan dilarang membentuk loop. Di sini terlihat BTC menjadi 'Hub' karena ia yang menghubungkan banyak koin.</a:t>
            </a:r>
            <a:endParaRPr lang="en-US" sz="1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Konversi Korelasi ke Jarak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Untuk membangun jaringan, korelasi harus diubah menjadi skor jarak (Metric Space).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(Mantegna, 1999): d_ij = √(2(1 - ρ_ij))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Simulasi Tabel Jarak: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1.00 (Identik) → d = √(2(1-1))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0.50 (Kuat) → d = √(2(1-0.5)) = √(1) = </a:t>
            </a:r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1.00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0.00 (Acak) → d = √(2(1-0)) = √(2) ≈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1.41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-1.00 (Berlawanan) → d = √(2(1-(-1))) = √(4)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2.00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Logika Utama: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1. Hubungan searah → Jarak Pendek (Aset sering bergerak bersama).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2. Hubungan berlawanan → Jarak Jauh (Aset saling menjauh).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MST hanya mengambil jalur-jalur dengan Jarak (d) paling kecil agar efisien.</a:t>
            </a:r>
            <a:endParaRPr lang="en-US" sz="1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Apakah Jaringan Selalu Berbentuk Star?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Jawaban: TIDAK. Topologi jaringan bersifat dinamis mengikuti rezim pasar.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Tipe Star (Sentralistik):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panik atau crash.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Semua aset mengekor pada satu koin dominan (Hub).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sangat berat pada koin pusat tersebut.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Tipe Terdistribusi (Cluster):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tenang atau aset memiliki 'narasi' berbeda.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Hubungan terbagi ke beberapa kelompok (misal: DeFi Group, Stablecoin Group).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lebih menyebar dan diversifikasi lebih alami.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Dinamika dalam NW: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Kekuatan Network Markowitz adalah kemampuannya mendeteksi transisi bentuk ini secara real-time melalui data historis.</a:t>
            </a:r>
            <a:endParaRPr lang="en-US" sz="1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Berapa Banyak Perhitungan Korelasi?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Untuk membangun satu matriks utuh, setiap aset harus dipasangkan satu sama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Kombinasi: C(N,2) = (N × (N - 1)) / 2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10 Aset (N=10):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Jumlah Pasangan Unik = (10 × 9) / 2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 Perhitungan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Detail Penjabaran: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ke-1 (BTC) berpasangan dengan 9 koin lainnya.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ke-2 (ETH) berpasangan dengan 8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ke-3 (XRP) berpasangan dengan 7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... Seterusnya.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Total: 9 + 8 + 7 + 6 + 5 + 4 + 3 + 2 + 1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45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Fakta Matriks 10x10: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Meskipun ada 100 kotak di matriks, komputer hanya perlu menghitung 45 angka unik karena korelasi bersifat cermin (A-B sama dengan B-A) dan tengahnya selalu 1 (A-A).</a:t>
            </a:r>
            <a:endParaRPr lang="en-US" sz="16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Alur Transformasi Matriks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Proses ini memastikan data statistik mentah bisa divisualisasikan menjadi peta risiko.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1: Matriks Korelasi (Pearson)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Berisi angka -1 s/d 1. Menunjukkan 'Kemiripan' gerak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2: Matriks Jarak (Metric Distance)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Angka korelasi diubah menjadi angka 0 s/d 2 (Jarak). Semakin mirip aset, semakin 'nempel' (jarak mendekati 0).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3: Bangun Jaringan (MST Algorithm)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Komputer membaca Matriks Jarak sebagai peta jalan tol, lalu memilih rute terpendek untuk menghubungkan seluruh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Hasil Akhir: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Jaringan (Network) yang siap digunakan untuk menghitung skor penalti penularan risiko sistemik.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Mekanisme Penalty Centrality (Risiko Penularan)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Kenapa koin yang 'populer' di jaringan justru diberi hukuman (penalti)?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Analogi Bandara Transit (Hub):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Jika Bandara transit utama (misal: Singapura) terkena badai, maka seluruh penerbangan di Asia Tenggara akan ikut kacau. Singapura adalah 'Hub' dengan Centrality tinggi.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Skenario di Kripto (Dominasi BTC):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 terhubung ke semua koin lain dalam MST.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Skor Centrality BTC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(Maksimal).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Cara Model NW Menghitung Risiko: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Risiko Baru = Risiko Harga + (γ ×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Tujuan Penalti: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Agar portofolio tidak menaruh terlalu banyak modal pada koin yang bisa memicu 'Efek Domino'. Jika BTC rontok, penalti memastikan kita sudah punya cadangan di koin-koin 'pinggiran' (peripheral) yang lebih mandiri.</a:t>
            </a:r>
            <a:endParaRPr lang="en-US" sz="1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Centrality (Degree Centrality)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Metode Degree Centrality mengukur seberapa banyak 'tangan' yang dimiliki sebuah aset untuk memegang aset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Centrality = Jumlah Koneksi / (N - 1)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5 Aset (BTC, ETH, XRP, LTC,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Utama (N) = 5. Pembagi (N-1) = 4.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1. Aset BTC (Terkoneksi ke ETH, XRP, LTC):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 Koneksi / 4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0.75 (Centrality Tinggi)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2. Aset LTC (Terkoneksi ke BTC &amp;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 Koneksi / 4 = </a:t>
            </a:r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0.50 (Centrality Sedang)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3. Aset ETH, XRP, USDT (Hanya 1 Koneksi):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 Koneksi / 4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0.25 (Centrality Rendah)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Dampak Penalti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Karena BTC memiliki skor 0.75, ia akan menerima penalti 3x lebih besar daripada ETH (0.25). Ini menjaga portofolio tetap terdiversifikasi dari pusat jaringan.</a:t>
            </a:r>
            <a:endParaRPr lang="en-US" sz="16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GS (Grid Search)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 (Tether)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(Grid Search)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(Network Markowitz)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2026-04-09T09:29:10Z</dcterms:created>
  <dcterms:modified xsi:type="dcterms:W3CDTF">2026-04-09T09:29:10Z</dcterms:modified>
</cp:coreProperties>
</file>