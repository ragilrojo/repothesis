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4.xml"/><Relationship Id="rId11" Type="http://schemas.openxmlformats.org/officeDocument/2006/relationships/slide" Target="slide15.xml"/><Relationship Id="rId12" Type="http://schemas.openxmlformats.org/officeDocument/2006/relationships/slide" Target="slide16.xml"/><Relationship Id="rId13" Type="http://schemas.openxmlformats.org/officeDocument/2006/relationships/slide" Target="slide17.xml"/><Relationship Id="rId14" Type="http://schemas.openxmlformats.org/officeDocument/2006/relationships/slide" Target="slide3.xml"/><Relationship Id="rId15" Type="http://schemas.openxmlformats.org/officeDocument/2006/relationships/slide" Target="slide61.xm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33.xml"/><Relationship Id="rId3" Type="http://schemas.openxmlformats.org/officeDocument/2006/relationships/slide" Target="slide34.xml"/><Relationship Id="rId4" Type="http://schemas.openxmlformats.org/officeDocument/2006/relationships/slide" Target="slide36.xml"/><Relationship Id="rId5" Type="http://schemas.openxmlformats.org/officeDocument/2006/relationships/slide" Target="slide18.xml"/><Relationship Id="rId6" Type="http://schemas.openxmlformats.org/officeDocument/2006/relationships/slide" Target="slide25.xml"/><Relationship Id="rId7" Type="http://schemas.openxmlformats.org/officeDocument/2006/relationships/slide" Target="slide27.xml"/><Relationship Id="rId8" Type="http://schemas.openxmlformats.org/officeDocument/2006/relationships/slide" Target="slide28.xml"/><Relationship Id="rId9" Type="http://schemas.openxmlformats.org/officeDocument/2006/relationships/slide" Target="slide37.xml"/><Relationship Id="rId10" Type="http://schemas.openxmlformats.org/officeDocument/2006/relationships/slide" Target="slide49.xml"/><Relationship Id="rId11" Type="http://schemas.openxmlformats.org/officeDocument/2006/relationships/slide" Target="slide50.xml"/><Relationship Id="rId12" Type="http://schemas.openxmlformats.org/officeDocument/2006/relationships/slide" Target="slide57.xml"/><Relationship Id="rId13" Type="http://schemas.openxmlformats.org/officeDocument/2006/relationships/slide" Target="slide58.xml"/><Relationship Id="rId14" Type="http://schemas.openxmlformats.org/officeDocument/2006/relationships/slide" Target="slide59.xml"/><Relationship Id="rId15" Type="http://schemas.openxmlformats.org/officeDocument/2006/relationships/slide" Target="slide60.xml"/><Relationship Id="rId16" Type="http://schemas.openxmlformats.org/officeDocument/2006/relationships/slide" Target="slide2.xm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2-Stage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(Statis)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(2-Stage GS)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Analisis per Fase Pasar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003366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END (TERIMA KASIH)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2-Stage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6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4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Statistik Dataset: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14 Sept 2017 - 17 Okt 2019 </a:t>
            </a:r>
            <a:pPr indent="0" marL="0">
              <a:buNone/>
            </a:pPr>
            <a:r>
              <a:rPr lang="en-US" sz="1200" b="1" dirty="0">
                <a:solidFill>
                  <a:srgbClr val="003366"/>
                </a:solidFill>
              </a:rPr>
              <a:t>| Total: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764 observasi harian</a:t>
            </a:r>
            <a:endParaRPr lang="en-US" sz="1200" dirty="0"/>
          </a:p>
        </p:txBody>
      </p:sp>
      <p:sp>
        <p:nvSpPr>
          <p:cNvPr id="5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(Adaptive Tuned):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2-Stage GS (VAR, Sharpe, Rachev)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Adaptive Tuned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2-Stage Grid Search (Coarse-to-Fine):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1 (Coarse): Mencari range optimal (W, γ) secara makro.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Tahap 2 (Fine): Zoom-in pencarian di sekitar titik terbaik Stage 1.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spesifik untuk 3 Target: VAR, SHARPE, dan RACHEV.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Menjamin parameter terbaik tanpa beban komputasi brute-force penuh.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Objektif &amp; Resiliensi: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Multi-Metric: Mencakup aspek risiko (VAR), efisiensi (Sharpe), dan ekor distribusi (Rachev).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Adaptabilitas: Menyesuaikan Window Size (stabilitas) &amp; Gamma (penalti jaringan).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Konsistensi: Validasi melalui Fine-Search memastikan solusi bukan noise lokal.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Hasil: Strategi yang lebih tangguh di berbagai fase pasar (Bearish, Recovery, Stable).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Hasil Comparison &amp; Grid Search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 (Multi-Metric)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 vs benchmark.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 95%):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resiliensi risiko/batas bawah.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efisiensi imbal hasil per unit risiko.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Fokus optimasi pada perbandingan ekor distribusi (Fat-Tails).</a:t>
            </a:r>
            <a:endParaRPr lang="en-US" sz="1700" dirty="0"/>
          </a:p>
          <a:p>
            <a:pPr indent="0" marL="0">
              <a:buNone/>
            </a:pPr>
            <a:r>
              <a:rPr lang="en-US" sz="1400" b="1" dirty="0">
                <a:solidFill>
                  <a:srgbClr val="D35400"/>
                </a:solidFill>
              </a:rPr>
              <a:t>Justifikasi Multi-Objective:</a:t>
            </a:r>
            <a:endParaRPr lang="en-US" sz="1700" dirty="0"/>
          </a:p>
          <a:p>
            <a:pPr indent="0" marL="0">
              <a:buNone/>
            </a:pPr>
            <a:r>
              <a:rPr lang="en-US" sz="1400" i="1" dirty="0">
                <a:solidFill>
                  <a:srgbClr val="333333"/>
                </a:solidFill>
              </a:rPr>
              <a:t>Pasar kripto yang dinamis memerlukan tuning parameter yang berbeda tergantung apakah investor memprioritaskan keamanan (VaR), efisiensi (Sharpe), atau pemulihan (Rachev).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Evaluasi Berdasarkan Fase Pasar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Pengujian pada 3 Kondisi Berbeda: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 Fase Bearish (Jan 2018 - Mar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ketahanan model saat pasar jatuh tajam.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2. Fase Recovery (Apr 2019 - Jun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kecepatan adaptasi model saat tren berbalik positif.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Fase Stable (Jul 2019 - Okt 2019):</a:t>
            </a:r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 Menguji konsistensi model dalam kondisi pasar mendatar.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35400"/>
                </a:solidFill>
              </a:rPr>
              <a:t>Metodologi Panel Performance: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A (Sharpe): Membandingkan efisiensi antar fase.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✔ Panel B (Rachev): Membandingkan resiliensi ekor distribusi.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000000"/>
                </a:solidFill>
              </a:rPr>
              <a:t>✔ Kesimpulan: NW Tuned menunjukkan stabilitas lebih tinggi dibanding benchmark statis di setiap fase.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2026-04-11T20:34:51Z</dcterms:created>
  <dcterms:modified xsi:type="dcterms:W3CDTF">2026-04-11T20:34:51Z</dcterms:modified>
</cp:coreProperties>
</file>