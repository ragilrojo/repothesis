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3.xml"/><Relationship Id="rId2" Type="http://schemas.openxmlformats.org/officeDocument/2006/relationships/slide" Target="slide4.xml"/><Relationship Id="rId3" Type="http://schemas.openxmlformats.org/officeDocument/2006/relationships/slide" Target="slide5.xml"/><Relationship Id="rId4" Type="http://schemas.openxmlformats.org/officeDocument/2006/relationships/slide" Target="slide10.xml"/><Relationship Id="rId5" Type="http://schemas.openxmlformats.org/officeDocument/2006/relationships/slide" Target="slide11.xml"/><Relationship Id="rId6" Type="http://schemas.openxmlformats.org/officeDocument/2006/relationships/slide" Target="slide12.xml"/><Relationship Id="rId7" Type="http://schemas.openxmlformats.org/officeDocument/2006/relationships/slide" Target="slide14.xml"/><Relationship Id="rId8" Type="http://schemas.openxmlformats.org/officeDocument/2006/relationships/slide" Target="slide15.xml"/><Relationship Id="rId9" Type="http://schemas.openxmlformats.org/officeDocument/2006/relationships/slide" Target="slide30.xml"/><Relationship Id="rId10" Type="http://schemas.openxmlformats.org/officeDocument/2006/relationships/slide" Target="slide31.xml"/><Relationship Id="rId11" Type="http://schemas.openxmlformats.org/officeDocument/2006/relationships/slide" Target="slide32.xml"/><Relationship Id="rId12" Type="http://schemas.openxmlformats.org/officeDocument/2006/relationships/slide" Target="slide34.xml"/><Relationship Id="rId13" Type="http://schemas.openxmlformats.org/officeDocument/2006/relationships/slide" Target="slide17.xml"/><Relationship Id="rId14" Type="http://schemas.openxmlformats.org/officeDocument/2006/relationships/slide" Target="slide40.xml"/><Relationship Id="rId15" Type="http://schemas.openxmlformats.org/officeDocument/2006/relationships/slide" Target="slide45.xml"/><Relationship Id="rId16" Type="http://schemas.openxmlformats.org/officeDocument/2006/relationships/slide" Target="slide36.xml"/><Relationship Id="rId17" Type="http://schemas.openxmlformats.org/officeDocument/2006/relationships/slide" Target="slide16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" Target="slide10.xml"/><Relationship Id="rId2" Type="http://schemas.openxmlformats.org/officeDocument/2006/relationships/slide" Target="slide11.xml"/><Relationship Id="rId3" Type="http://schemas.openxmlformats.org/officeDocument/2006/relationships/slide" Target="slide12.xml"/><Relationship Id="rId4" Type="http://schemas.openxmlformats.org/officeDocument/2006/relationships/slide" Target="slide13.xml"/><Relationship Id="rId5" Type="http://schemas.openxmlformats.org/officeDocument/2006/relationships/slide" Target="slide14.xml"/><Relationship Id="rId6" Type="http://schemas.openxmlformats.org/officeDocument/2006/relationships/slide" Target="slide2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30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" Target="slide31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" Target="slide32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34.xml"/><Relationship Id="rId2" Type="http://schemas.openxmlformats.org/officeDocument/2006/relationships/slide" Target="slide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Daftar Isi (Detailed Outline)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I. PENDAHULUAN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Latar Belakang &amp; Motivasi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Masalah "Noise" di Kripto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Landasan Teori &amp; Literatur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II. STRATEGI PORTOFOLIO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Equally Weighted (EW)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Classical Markowitz (CM)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Graphical Lasso (GM)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Network Markowitz (Adaptif)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III. EVALUASI PERFORMA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8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Matriks Sharpe, VaR, Rachev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IV. LAMPIRAN TEKNIS (APPENDIX)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9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EW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0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CM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GLasso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Strategi NW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Random Matrix Theory (RMT)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Minimum Spanning Tree (MST)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Penalty &amp; Centrality Logic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Simulasi 60/40 Weight Shift</a:t>
            </a:r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V. PENUTUP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1600" u="sng" dirty="0">
                <a:solidFill>
                  <a:srgbClr val="333333"/>
                </a:solidFill>
                <a:hlinkClick r:id="rId17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Sesi Tanya Jawab (Q&amp;A)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  <p:sp>
        <p:nvSpPr>
          <p:cNvPr id="5" name="Text 3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  <p:sp>
        <p:nvSpPr>
          <p:cNvPr id="4" name="Text 1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EW (Equally Weighted)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CM (Classical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GM (Glasso Markowitz)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Statis (γ fixed)</a:t>
            </a:r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</a:t>
            </a:r>
            <a:pPr indent="0" marL="0">
              <a:buNone/>
            </a:pPr>
            <a:r>
              <a:rPr lang="en-US" sz="2200" u="sng" dirty="0">
                <a:solidFill>
                  <a:srgbClr val="0563C1"/>
                </a:solidFill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NW Adaptif (Grid Search)</a:t>
            </a:r>
            <a:endParaRPr lang="en-US" sz="2200" dirty="0"/>
          </a:p>
        </p:txBody>
      </p:sp>
      <p:sp>
        <p:nvSpPr>
          <p:cNvPr id="4" name="Text 2">
            <a:hlinkClick r:id="rId6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6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Lampiran]</a:t>
            </a:r>
            <a:endParaRPr lang="en-US" sz="2000" dirty="0"/>
          </a:p>
        </p:txBody>
      </p:sp>
      <p:sp>
        <p:nvSpPr>
          <p:cNvPr id="4" name="Text 2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[Lihat Detail Simulasi &amp; Kalkulasi Lampiran]</a:t>
            </a:r>
            <a:endParaRPr lang="en-US" sz="2000" dirty="0"/>
          </a:p>
        </p:txBody>
      </p:sp>
      <p:sp>
        <p:nvSpPr>
          <p:cNvPr id="5" name="Text 3">
            <a:hlinkClick r:id="rId2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  <p:sp>
        <p:nvSpPr>
          <p:cNvPr id="4" name="Text 2">
            <a:hlinkClick r:id="rId1" tooltip="" action="ppaction://hlinksldjump"/>
          </p:cNvPr>
          <p:cNvSpPr/>
          <p:nvPr/>
        </p:nvSpPr>
        <p:spPr>
          <a:xfrm>
            <a:off x="7772400" y="4846320"/>
            <a:ext cx="1097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🏠 Daftar Isi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Mekanisme Penalty Centrality (Risiko Penularan)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Kenapa koin yang 'populer' di jaringan justru diberi hukuman (penalti)?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Analogi Bandara Transit (Hub):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Jika Bandara transit utama (misal: Singapura) terkena badai, maka seluruh penerbangan di Asia Tenggara akan ikut kacau. Singapura adalah 'Hub' dengan Centrality tinggi.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Skenario di Kripto (Dominasi BTC):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 terhubung ke semua koin lain dalam MST.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Skor Centrality BTC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(Maksimal).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Cara Model NW Menghitung Risiko: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Risiko Baru = Risiko Harga + (γ ×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1.00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Tujuan Penalti: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Agar portofolio tidak menaruh terlalu banyak modal pada koin yang bisa memicu 'Efek Domino'. Jika BTC rontok, penalti memastikan kita sudah punya cadangan di koin-koin 'pinggiran' (peripheral) yang lebih mandiri.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Centrality (Degree Centrality)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Metode Degree Centrality mengukur seberapa banyak 'tangan' yang dimiliki sebuah aset untuk memegang aset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Centrality = Jumlah Koneksi / (N - 1)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5 Aset (BTC, ETH, XRP, LTC,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Utama (N) = 5. Pembagi (N-1) = 4.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1. Aset BTC (Terkoneksi ke ETH, XRP, LTC):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 Koneksi / 4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0.75 (Centrality Tinggi)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2. Aset LTC (Terkoneksi ke BTC &amp; USDT):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 Koneksi / 4 = </a:t>
            </a:r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0.50 (Centrality Sedang)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3. Aset ETH, XRP, USDT (Hanya 1 Koneksi):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 Koneksi / 4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0.25 (Centrality Rendah)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Dampak Penalti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Karena BTC memiliki skor 0.75, ia akan menerima penalti 3x lebih besar daripada ETH (0.25). Ini menjaga portofolio tetap terdiversifikasi dari pusat jaringan.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2026-04-09T09:43:05Z</dcterms:created>
  <dcterms:modified xsi:type="dcterms:W3CDTF">2026-04-09T09:43:05Z</dcterms:modified>
</cp:coreProperties>
</file>