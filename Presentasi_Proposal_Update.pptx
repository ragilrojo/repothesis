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4.xml"/><Relationship Id="rId8" Type="http://schemas.openxmlformats.org/officeDocument/2006/relationships/slide" Target="slide15.xml"/><Relationship Id="rId9" Type="http://schemas.openxmlformats.org/officeDocument/2006/relationships/slide" Target="slide30.xml"/><Relationship Id="rId10" Type="http://schemas.openxmlformats.org/officeDocument/2006/relationships/slide" Target="slide31.xml"/><Relationship Id="rId11" Type="http://schemas.openxmlformats.org/officeDocument/2006/relationships/slide" Target="slide32.xml"/><Relationship Id="rId12" Type="http://schemas.openxmlformats.org/officeDocument/2006/relationships/slide" Target="slide34.xml"/><Relationship Id="rId13" Type="http://schemas.openxmlformats.org/officeDocument/2006/relationships/slide" Target="slide17.xml"/><Relationship Id="rId14" Type="http://schemas.openxmlformats.org/officeDocument/2006/relationships/slide" Target="slide40.xml"/><Relationship Id="rId15" Type="http://schemas.openxmlformats.org/officeDocument/2006/relationships/slide" Target="slide45.xml"/><Relationship Id="rId16" Type="http://schemas.openxmlformats.org/officeDocument/2006/relationships/slide" Target="slide36.xml"/><Relationship Id="rId17" Type="http://schemas.openxmlformats.org/officeDocument/2006/relationships/slide" Target="slide16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slide" Target="slide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Proposal Tesis: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Optimalisasi Portofolio Adaptif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Berbasis Pendekatan
</a:t>
            </a:r>
            <a:pPr algn="ctr" indent="0" marL="0">
              <a:buNone/>
            </a:pPr>
            <a:r>
              <a:rPr lang="en-US" sz="2400" i="1" dirty="0">
                <a:solidFill>
                  <a:srgbClr val="34495E"/>
                </a:solidFill>
              </a:rPr>
              <a:t>Network Markowitz</a:t>
            </a:r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 dengan </a:t>
            </a:r>
            <a:pPr algn="ctr" indent="0" marL="0">
              <a:buNone/>
            </a:pPr>
            <a:r>
              <a:rPr lang="en-US" sz="2400" i="1" dirty="0">
                <a:solidFill>
                  <a:srgbClr val="34495E"/>
                </a:solidFill>
              </a:rPr>
              <a:t>Rolling Window Grid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Oleh: Ragil Yulianto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Daftar Isi (Detailed Outline)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I. PENDAHULUAN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Latar Belakang &amp; Motivasi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Masalah "Noise" di Kripto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Landasan Teori &amp; Literatur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II. STRATEGI PORTOFOLIO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Equally Weighted (EW)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Classical Markowitz (CM)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Graphical Lasso (GM)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Markowitz (Adaptif)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0058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III. EVALUASI PERFORMA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Matriks Sharpe, VaR, Rachev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IV. LAMPIRAN TEKNIS (APPENDIX)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Simulasi Strategi EW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Simulasi Strategi CM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Simulasi Strategi GLasso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Simulasi Strategi NW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Matrix Theory (RMT)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Minimum Spanning Tree (MST)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Penalty &amp; Centrality Logic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Simulasi 60/40 Weight Shift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V. PENUTUP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1600" u="sng" dirty="0">
                <a:solidFill>
                  <a:srgbClr val="333333"/>
                </a:solidFill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Sesi Tanya Jawab (Q&amp;A)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Latar Belakang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Tingginya volatilitas ekstrem dan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memerlukan manajemen risiko yang presisi.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Kelemahan Markowitz: Rawan terhadap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estimation error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matriks kovarians.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Network Markowitz: Menyaring noise menggunakan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Random Matrix Theory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(RMT) untuk rekonstruksi stabilitas.</a:t>
            </a:r>
            <a:endParaRPr lang="en-US" sz="20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Apa itu "Noise" di Pasar Kripto?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Noise (Kebisingan) Pasar: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Fluktuasi harga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akibat sentimen sesaat, rumor, FOMO (Fear Of Missing Out), atau spekulasi yang tidak mencerminkan nilai fundamental aset.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Estimation Error (Korelasi Palsu):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Model tradisional seringkali menangkap pergerakan acak ini sebagai korelasi tinggi antar aset, menghasilkan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kovarians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berisik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tidak stabil.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Solusi Random Matrix Theory (</a:t>
            </a:r>
            <a:pPr indent="0" marL="0">
              <a:buNone/>
            </a:pPr>
            <a:r>
              <a:rPr lang="en-US" sz="1800" b="1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RMT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Berfungsi sebagai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filter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untuk memisahkan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korelasi sejati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(sinyal struktur pasar) dari sekadar pergerakan kebetulan (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), memastikan alokasi portofolio tidak tertipu oleh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fluktuasi semu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Landasan Teori Utama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Tinjauan Portofolio &amp; Risiko: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Portofolio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Diversifikasi aset untuk optimasi return-risiko.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Volatilitas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Ukuran fluktuasi harga pasar.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Kovarians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Ukuran pergerakan bersama aset.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Pendekatan Struktur Jaringan: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RMT (Random Matrix Theory)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Filter noise untuk kestabilan matriks.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MST (Minimum Spanning Tree)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Jaringan korelasi terkuat tanpa loop.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Centrality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Metrik risiko penularan sistemik.</a:t>
            </a:r>
            <a:endParaRPr lang="en-US" sz="20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Penelitian Terdahulu (State of the Art)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 Giudici et al. (2020):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Pelopor model Network Markowitz yang memadukan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RMT (Random Matrix Theory)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MST (Minimum Spanning Tree)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di kripto.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2. Kitanovski et al. (2022):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Mendemonstrasikan diversifikasi berbasis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deteksi komunitas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jaringan.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3. Jing &amp; Rocha (2023):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Pemilihan koin topologi MST (Minimum Spanning Tree) mengalahkan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semua benchmark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4. Kitanovski et al. (2024):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Penalti graf sangat resilien meredam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eksposur ekstrem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5. Jing et al. (2025):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Penggabungan Network-MPT (Modern Portfolio Theory) memberikan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prediksi stabil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di fase terbaru.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Kerangka Pemikiran / Penelitian</a:t>
            </a:r>
            <a:endParaRPr lang="en-US" sz="2800" dirty="0"/>
          </a:p>
        </p:txBody>
      </p:sp>
      <p:pic>
        <p:nvPicPr>
          <p:cNvPr id="3" name="Image 0" descr="framwr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657600"/>
          </a:xfrm>
          <a:prstGeom prst="rect">
            <a:avLst/>
          </a:prstGeom>
        </p:spPr>
      </p:pic>
      <p:sp>
        <p:nvSpPr>
          <p:cNvPr id="4" name="Text 1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Dataset: 10 Aset Kripto Utama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Nama Aset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Kategori / Use Case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BTC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Bitcoin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Store of 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Ethereum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XRP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Ripple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Bridge Currency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USDT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Tether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Stablecoin / USD Pegged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BCH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Bitcoin Cash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Peer-to-Peer Cash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LTC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Litecoin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Digital Silver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BNB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Binance 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Exchange Token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XLM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Stellar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Bridge Currency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TRX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Tron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Strategi Portofolio yang Disimulasikan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1. Kelompok Baseline: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EW (Equally Weighted)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 (Classical Markowitz)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Kelompok Regularisasi: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 (Glasso Markowitz)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Kelompok Network (Statis):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NW Statis (γ fixed)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4. Kelompok Network (Adaptif):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</a:t>
            </a:r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NW Adaptif (Grid Search)</a:t>
            </a:r>
            <a:endParaRPr lang="en-US" sz="2200" dirty="0"/>
          </a:p>
        </p:txBody>
      </p:sp>
      <p:sp>
        <p:nvSpPr>
          <p:cNvPr id="4" name="Text 2">
            <a:hlinkClick r:id="rId6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1.1. Equally Weighted (EW)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Strategi alokasi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1/N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tanpa mempertimbangkan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parameter risiko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Keunggulan: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Berfungsi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benchmark naif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yang tangguh.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Tidak memiliki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estimation risk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karena minim statistik.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[Lihat Detail Simulasi Lampiran]</a:t>
            </a:r>
            <a:endParaRPr lang="en-US" sz="20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1.2. Classical Markowitz (CM)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Meminimalkan variansi untuk tingkat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imbal hasil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tertentu.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Kelemahan: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Menderita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ketidakstabilan numerik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data yang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sangat berisik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(noisy).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Pondasi dasar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teori tradisional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dalam penelitian ini.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[Lihat Detail Simulasi Lampiran]</a:t>
            </a:r>
            <a:endParaRPr lang="en-US" sz="20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Graphical Lasso Markowitz (GM)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Menggunakan algoritma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Lasso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matriks presisi (invers kovarians) untuk memaksa korelasi yang tidak signifikan menjadi nol.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Tujuan: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Menciptakan struktur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'sparsity'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(kerekatan) pada jaringan.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Menangani tantangan data kripto yang sering terkorelasi secara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palsu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(spurious correlations).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[Lihat Detail Simulasi Lampiran]</a:t>
            </a:r>
            <a:endParaRPr lang="en-US" sz="20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Network Markowitz (NW) Statis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Model jaringan original (Giudici et al., 2020) yang menggabungkan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filter RMT (Random Matrix Theory)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dan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penalti sentralitas graf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Karakteristik: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Menggunakan parameter penalti (gamma) yang bersifat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statis/tetap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(hard-coded).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Digunakan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pembanding langsung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untuk menguji efisiensi parameter adaptif.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[Lihat Detail Simulasi Lampiran]</a:t>
            </a:r>
            <a:endParaRPr lang="en-US" sz="20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4. Network Markowitz (NW) Adaptif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Mekanisme Optimasi Dinamis: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Rolling Window: 30, 60, 90, 120 hari.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Rebalancing: Setiap 7 hari.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Transaction Cost: 0.1% (10 basis points).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Grid Search γ: Rentang [0.0 - 2.0].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Split Validasi Internal (80/20):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Training: Estimasi bobot gamma.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Validation: Seleksi performa optimal.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Fallback: Menggunakan strategi EW (Equally Weighted).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Tujuan: Adaptasi rezim pasar.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[Lihat Detail Simulasi &amp; Kalkulasi Lampiran]</a:t>
            </a:r>
            <a:endParaRPr lang="en-US" sz="2000" dirty="0"/>
          </a:p>
        </p:txBody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Matriks Evaluasi Performa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1. Sharpe Ratio: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Imbal hasil per unit risiko. Semakin besar menunjukkan kualitas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efisiensi portofolio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2. Value at Risk (VaR):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Batas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kerugian maksimal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kondiri crash. Semakin kecil tandanya perisai sukses.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3. Rachev Ratio: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Membandingkan potensi 'Profit Ekstrem' vs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Ancaman Loss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 Menilai asimetri ekor.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Terima Kasih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Lampiran: Analogi </a:t>
            </a:r>
            <a:pPr indent="0" marL="0">
              <a:buNone/>
            </a:pPr>
            <a:r>
              <a:rPr lang="en-US" sz="2800" b="1" u="sng" dirty="0">
                <a:solidFill>
                  <a:srgbClr val="003366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RMT (Random Matrix Theory)</a:t>
            </a:r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 sebagai "Noise-Canceling"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Pasar Kripto = Pesta yang Bising: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Banyak fluktuasi harga karena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sentimen sesaat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/ kebetulan (noise).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Sinyal Korelasi Asli = Suara yang Ingin Didengar: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Hubungan nyata antar-aset yang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stabil dan berbobot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Random Matrix Theory (RMT) = Headphone Noise-Canceling: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Membedakan gelombang statistik acak dari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pola suara asli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menggunakan Distribusi MP (Marchenko-Pastur).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Meredam spekulasi jangka pendek untuk mencegah </a:t>
            </a:r>
            <a:pPr indent="0" marL="0">
              <a:buNone/>
            </a:pPr>
            <a:r>
              <a:rPr lang="en-US" sz="2200" b="1" i="1" dirty="0">
                <a:solidFill>
                  <a:srgbClr val="333333"/>
                </a:solidFill>
              </a:rPr>
              <a:t>estimation error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Matriks tersisa adalah hubungan yang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bersih dan terpercaya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Membedakan Hubungan Sejati (Signal) vs Noise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Mencari Nilai Eigen (Eigenvalues):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Mengekstrak angka yang mewakili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kekuatan pola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pergerakan bersama.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Batas Noise (Marchenko-Pastur):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RMT (Random Matrix Theory) menghitung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batas teoretis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maksimum dari matriks acak.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Uji Coba Signal vs Noise: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NOISE JALUR: Jika Eigenvalue &lt; λ_max. Dianggap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kebetulan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SIGNAL JALUR: Jika Eigenvalue &gt; λ_max. Dianggap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ikatan fundamental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Pembersihan &amp; Rekonstruksi: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Hanya nilai signal yang dipertahankan untuk membangun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korelasi bersih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Bagaimana Menghitung Nilai Eigen?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Matriks Korelasi (C):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Membentuk tabel yang menjabarkan seluruh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korelasi pergerakan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harga antar sepasang koin.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Konsep Persamaan Karakteristik: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Mencari besaran skalar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λ (eigenvalue)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vektor arah yang memenuhi: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C × v = λ × v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Solusi Determinan: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Nilai λ adalah akar dari persamaan determinan: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Det(C - λI) = 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Arti dari Spektrum Hasil: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Nilai λ terbesar mewakili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penggerak pasar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utama (Market Factor).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Praktek Sederhana Menghitung Eigenvalue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Konteks Dummy: 2 Koin, BTC (Bitcoin) &amp; ETH (Ethereum), korelasi = 0.5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Matriks Korelasi (C):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 = [ 1.0  0.5 ]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[ 0.5  1.0 ]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Persamaan: Det(C - λI)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(1 - λ)² - (0.5)²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λ² - 2λ + 0.75 = 0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(λ - 1.5)(λ - 0.5) = 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Hasil Akar Nilai Eigen: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λ₁ = 1.5 :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Market Factor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(Signal Kuat).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λ₂ = 0.5 :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Idiosyncratic Risk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(Noise).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Kesimpulan Filtering: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Jika RMT (Random Matrix Theory) mematok batas λ_max = 1.0, maka λ₂ dianggap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lalu dinolkan, sementara λ₁ dijaga sebagai sinyal sejati.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Bagaimana Menghitung Korelasi?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Data Historis (Returns):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Input berupa runtut waktu dari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return harian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aset kripto.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Library &amp; Metode Python: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Dihitung menggunakan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(df.corr())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berbasis koefisien Pearson.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Formula Pearson Correlation: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ρ(X,Y) = Cov(X,Y) / (σX × σY)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4. Output Matriks (N x N):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Nilai berkisar antara -1 hingga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 (searah)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 Diagonal selalu 1.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Apakah Nilai Eigen Statis?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Apakah Nilai Eigen Sudah Ditentukan (Statis)?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TIDAK. Nilai Eigen diekstrak langsung dari matriks korelasi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saat rebalancing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Proses Dinamis: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Matriks korelasi dihitung dari data terbaru via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rolling window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Batas filter Marchenko-Pastur ikut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dihitung ulang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mengikuti rasio data.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Kesimpulan: Sifat adaptif secara </a:t>
            </a:r>
            <a:pPr indent="0" marL="0">
              <a:buNone/>
            </a:pPr>
            <a:r>
              <a:rPr lang="en-US" sz="1600" b="1" i="1" dirty="0">
                <a:solidFill>
                  <a:srgbClr val="333333"/>
                </a:solidFill>
              </a:rPr>
              <a:t>real-time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merespons perubahan rezim pasar dengan cepat.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Menentukan Batas Noise (Marchenko-Pastur)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Apa itu Batas Marchenko-Pastur (MP)?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Prediksi bentuk distribusi dari matriks yang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100% acak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(noise).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Menghitung Batas Atas Noise (λ_max):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λ_max = 1 + (1/Q) + 2√(1/Q)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Apa itu Rasio Q?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Q = T / 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(Baris Data / Aset).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Mekanisme Filtering: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Eigenvalue &lt; λ_max :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Dihapus (Noise)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Eigenvalue &gt; λ_max :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Dipertahankan (Sinyal)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Analogi Minimum Spanning Tree (MST)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Membangun Jaringan Jalan Tol Antar Kota: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Hubungkan aset yang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paling dekat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(korelasi terkuat).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Semua koin harus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terhubung satu jaringan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Dilarang membuat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jalan memutar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(tanpa loop/redundansi).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Kita Membutuhkan MST?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Menemukan Titik Kemacetan (Hub Centrality):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 jaringan tol, kota besar menjadi pusat persimpangan. Di kripto, ini mewakili koin yang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sangat sentral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Jika terjadi kecelakaan di koin sentral, efeknya akan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langsung menular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ke seluruh jaringan.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Solusi Network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Koin sentral akan diberi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hukuman penalti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agar portofolio tetap kokoh saat koin tersebut crash.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Berapa Nilai "Penalti" (Gamma) yang Optimal?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Apakah Ada Satu Angka Penalti yang Sempurna?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TIDAK. Nilai gamma optimal berubah tergantung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siklus fluktuasi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 Fase Bull Market (Pasar Menguat):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Penalti berat berisiko menghilangkan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peluang untung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 Gamma optimal cenderung rendah.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2. Fase Bear Market / Crash (Pasar Jatuh):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Keruntuhan koin sentral bisa memicu penularan (</a:t>
            </a:r>
            <a:pPr indent="0" marL="0">
              <a:buNone/>
            </a:pPr>
            <a:r>
              <a:rPr lang="en-US" sz="1600" b="1" i="1" dirty="0">
                <a:solidFill>
                  <a:srgbClr val="333333"/>
                </a:solidFill>
              </a:rPr>
              <a:t>Tail-Risk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). Gamma optimal cenderung tinggi.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Kesimpulan: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Grid Search membiarkan komputer menyesuaikan gamma secara otomatis dengan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data terbaru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Apa itu Classical Markowitz (CM)?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Modern Portfolio Theory (MPT) / Mean-Variance Optimization: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Merupakan teori klasik (ditemukan oleh Harry Markowitz tahun 1952) yang mencoba meramu komposisi/bobot aset dalam portofolio dengan tujuan matematika murni: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Memaksimalkan tingkat keuntungan (Return) pada tingkat risiko tertentu, ATAU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Meminimalkan risiko (Variance) pada tingkat keuntungan tertentu.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Asumsi Dasar Classical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Investor diasumsikan sepenuhnya rasional dan benci risiko (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Risk-averse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ini sangat bergantung pada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kovarians historis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pedoman utama memprediksi masa depan.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Classical Markowitz Kesulitan?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Kelemahan Klasik di Pasar Kripto: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Pasar kripto bersifat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hyper-volatile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dengan korelasi ekor tebal.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CM (Classical Markowitz) memakan mentah-mentah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noise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tanpa filter, berujung pada kegagalan prediksi.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Evolusi → Network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Mengembangkan CM (Classical Markowitz) dengan membersihkan noise menggunakan RMT (Random Matrix Theory) dan menghukum koin yang rawan menderita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efek contagion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menggunakan MST (Minimum Spanning Tree).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Detail Perhitungan Korelasi (Pearson)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Bagaimana angka 0.50 didapatkan? (Dummy 3 Hari)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Data Return (X=BTC, Y=ETH):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Hari 1: X=2%, Y=2% | Hari 2: X=-2%, Y=0% | Hari 3: X=0%, Y=-2%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Rata-rata (Mean): X̄ = 0, Ȳ = 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Tabel Deviasi &amp; Perkalian: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Σ(x-x̄)(y-ȳ) = (2)(2) + (-2)(0) + (0)(-2)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Σ(x-x̄)² = (2)² + (-2)² + (0)²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Σ(y-ȳ)² = (2)² + (0)² + (-2)²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Rumus Korelasi (ρ):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ρ = Σ(dev_x * dev_y) / √(Σdev_x² * Σdev_y²)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ρ = 4 / √(8 * 8) = 4 / 8 =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Kesimpulan: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Angka ini menunjukkan arah pergerakan yang searah (positif) namun tidak identik, yang kemudian digunakan sebagai input matriks kovarians.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Sederhana Equally Weighted (EW)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Strategi 1/N: Alokasi Tanpa Rumit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1. Logika Dasar: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Membagi seluruh modal secara merata tanpa melihat performa masa lalu.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2. Simulasi (Dummy):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Total Modal: Rp 100.000.000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Jumlah Aset (N): 5 (BTC, ETH, XRP, LTC, USDT)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Bobot Tiap Aset: 1/5 =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20%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(Tetap)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3. Sebaran Modal: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BTC: Rp 20jt | ETH: Rp 20jt | XRP: Rp 20jt | dst.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4. Mengapa EW Masuk Baseline?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Tidak menderita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error estimasi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karena tidak menghitung korelasi.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   • Benchmark yang sangat tangguh; model kompleks harus bisa mengalahkan EW untuk dianggap valid.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Simulasi Sederhana Classical Markowitz (2 Aset)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Tujuan: Mencari bobot (w) untuk risiko terendah (Minimum Variance).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Data Input (Dummy):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A (BTC): Volatilitas (σ₁) = 20% (0.20)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B (ETH): Volatilitas (σ₂) = 30% (0.30)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Korelasi (ρ₁₂): 0.50 (Didapat dari return harian historis)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   • Kovarians (σ₁₂): </a:t>
            </a:r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ρ₁₂ × σ₁ × σ₂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= 0.50 × 0.20 × 0.30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0.03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Rumus Bobot Aset A (w₁):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w₁ = (σ₂² - Cov) / (σ₁² + σ₂² - 2·Cov)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w₁ = (0.09 - 0.03) / (0.04 + 0.09 - 0.06)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w₁ = 0.06 / 0.07 ≈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0.85 (85%)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Hasil Alokasi: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Bobot BTC: 85%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Bobot ETH: 15%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Kesimpulan Klasik: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Markowitz akan memilih aset dengan volatilitas lebih rendah (BTC) secara dominan. Namun, jika angka σ₁ dan σ₂ ini mengandung "noise", maka alokasi ini menjadi tidak optimal (Over-concentration).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GLasso (1/2: Korelasi)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Tujuan: Membuang korelasi palsu (noise) untuk mendapatkan sinyal pasar murni.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Matriks Korelasi Sebelum GLasso (Dirty):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BTC    ETH    DOGE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BTC  [ 1.00   0.70   0.08 ]  &lt;-- 0.08 (Noise)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ETH  [ 0.70   1.00   0.05 ]  &lt;-- 0.05 (Noise)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DOGE [ 0.08   0.05   1.00 ]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Proses Penalti (λ):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Algoritma GLasso menekan korelasi lemah menjadi nol.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Matriks Hasil GLasso (Clean/Sparse):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BTC    ETH    DOGE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BTC  [ 1.00   0.65   0.00 ]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ETH  [ 0.65   1.00   0.00 ]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DOGE [ 0.00   0.00   1.00 ]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GLasso (2/2: Dampak Bobot)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Bagaimana 'Pembersihan' mengubah alokasi modal?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4. Simulasi Perubahan Bobot (Weight Shift):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   • Alokasi Tanpa GLasso: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  BTC: 60%, ETH: 30%,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DOGE: 10%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(Tertipu korelasi palsu).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   • Alokasi Dengan GLasso: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  BTC: 65%, ETH: 35%,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DOGE: 0%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(Fokus pada korelasi sejati).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Kesimpulan &amp; Manfaat: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Pembersihan noise melalui GLasso memastikan modal tidak dialokasikan ke aset yang hanya terlihat menguntungkan secara statistik sesaat (spurious divergence), melainkan tetap pada struktur pasar yang kokoh.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Sederhana Network Markowitz (NW)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Tujuan: Mengurangi risiko sistemik dengan menghukum koin 'pusat' (hub).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Skenario Jaringan (MST):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Bayangkan 3 Koin: BTC, ETH, dan ADA.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BTC terhubung ke ETH dan ADA (BTC adalah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Hub utama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Centrality (EC): BTC=0.8, ETH=0.4, ADA=0.4.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Perbandingan Alokasi: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Classical Markowitz: Melirik BTC karena paling stabil, bobot bisa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70%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Network Markowitz (γ=1.0): Mendeteksi BTC sebagai titik bahaya penularan. Bobot BTC dipangkas menjadi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45%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Mekanisme 'Hukuman' (Penalty):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Risiko Baru = Risiko Harga + (γ × Centrality)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Hasil Akhir: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Modal dialihkan ke ETH/ADA yang lebih 'pinggiran' (peripheral). Portofolio tidak hancur total jika 'Hub' (BTC) mengalami crash ekstrem.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Detail Kalkulasi Penentuan Bobot NW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Bagaimana 'Penalti' mengubah angka bobot secara konkret?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Data Aset (Dummy):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A (Hub): Volatilitas = 20%, Centrality (EC) = 0.8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B (Peripheral): Volatilitas = 30%, Centrality (EC) = 0.2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Parameter Gamma (γ) = 0.5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Perhitungan Risiko Penyesuaian (Adjusted Risk):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Risiko A = 0.20 + (0.5 × 0.8) =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0.60 (Meningkat)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Risiko B = 0.30 + (0.5 × 0.2) =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0.40 (Relatif Stabil)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Pergeseran Bobot (Weight Shift):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Bobot A (Kuno):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60% → 40% (NW)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Bobot B (Kuno):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40% → 60% (NW)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Inti Logika NW: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Aset A dihukum bukan karena harganya tidak stabil, tapi karena ia adalah 'pusat kemacetan' risiko. Model secara matematis memindahkan modal ke Aset B untuk proteksi sistemik.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Rumus &amp; Penjabaran Bobot (60% vs 40%)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Menggunakan Metode Alokasi Volatilitas Terbalik (Inverse Volatility):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03366"/>
                </a:solidFill>
              </a:rPr>
              <a:t>Rumus: Bobot (w) = (1 / Risiko) / Total (1 / Risiko)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1. Perhitungan Skenario Klasik (Tanpa Penalti):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A (Risiko 0.20) → 1 / 0.20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5.00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(Daya Tarik)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B (Risiko 0.30) → 1 / 0.30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3.33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(Daya Tarik)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Bobot A = 5.00 / (5.00 + 3.33) = 5.00 / 8.33 ≈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60%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2. Perhitungan Skenario Network (Gamma 0.5):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A (Risiko 0.60) → 1 / 0.60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1.67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(Daya Tarik Turun)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B (Risiko 0.40) → 1 / 0.40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2.50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(Daya Tarik Naik)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Bobot A = 1.67 / (1.67 + 2.50) = 1.67 / 4.17 ≈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40%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Kesimpulan Matematis: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Model ini secara adil memberikan porsi lebih besar pada aset yang memiliki skor gabungan 'Risiko + Penalti' yang paling kecil.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NW vs CM - Hubungan dengan Korelasi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Pertanyaan Penting: Apakah NW mengesampingkan korelasi?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Jawaban: TIDAK. NW justru menggunakan korelasi secara lebih cerdas.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Perbandingan Alur Kerja: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❑ Classical Markowitz (CM):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Korelasi Mentah → Matriks Kovarians → Bobot Portofolio.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❑ Network Markowitz (NW):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1. Korelasi Mentah → </a:t>
            </a:r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Saring Noise (RMT)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(Membersihkan korelasi palsu).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2. Korelasi Bersih → </a:t>
            </a:r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Bangun MST (Network)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(Melihat peta hubungan antar koin).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3. Struktur Network → </a:t>
            </a:r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Penalty Centrality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(Menimbang risiko penularan).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4. Gabungan → Optimasi Markowitz Akhir.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Kesimpulan: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NW tidak membuang korelasi; ia 'mengolah' korelasi menjadi peta jaringan untuk mendeteksi risiko sistemik yang tidak terlihat oleh CM biasa.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Detail Filter RMT (Pembersihan Noise)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Analogi: Menghilangkan suara 'kresek' radio agar lagu terdengar jernih.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Skenario Korelasi Mentah (Dirty Matrix):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BTC vs ETH   : 0.75 (Ikatan Fundamental)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BTC vs DOGE  : 0.12 (Kebetulan Spekulatif/Noise)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ETH vs PEPE  : 0.08 (Kebetulan Spekulatif/Noise)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Uji Batas RMT (Marchenko-Pastur Distribution):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Rumus RMT menghitung 'Ambang Batas Keacakan' (Threshold).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Misalkan hasil hitung batas noise (λ_max) =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0.15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3. Proses Pembersihan (Filtering):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0.75 &gt; 0.15  →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DIJAGA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(Ini adalah Sinyal Pasar).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0.12 &lt; 0.15  →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DIBUANG (JADI 0)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(Ini adalah Noise).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0.08 &lt; 0.15  →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DIBUANG (JADI 0)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(Ini adalah Noise).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Kesimpulan Akhir: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Dengan RMT, model hanya akan membangun portofolio berdasarkan 'Gema Fundamental' aset, bukan berdasarkan 'Kebetulan Statistik' yang sering menjebak investor di pasar kripto.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Cara Menghitung Batas Noise (λ_max)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Batas ini ditentukan menggunakan Distribusi Marchenko-Pastur: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Rumus: λ_max = σ² × (1 + √(1/Q))²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Komponen Rasio Q: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Q = T / 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T = Jumlah hari (Observasi)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N = Jumlah koin (Aset)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Contoh Simulasi: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Kita punya data 10 koin (N=10) selama 1000 hari (T=1000).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1. Hitung Q: 1000 / 10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2. Hitung Akar: √(1/100)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0.1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3. Hitung λ_max: (1 + 0.1)² = 1.1² =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1.21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Penerapan: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Setiap Nilai Eigen dari matriks korelasi yang nilainya di bawah 1.21 akan dianggap sebagai noise dan dibersihkan dari model.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Contoh Membangun MST (Network Mapping)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Bagaimana korelasi berubah menjadi peta jaringan?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1. Konversi Korelasi ke Jarak (Metric Distance):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Semakin tinggi korelasi → Semakin dekat jaraknya (riferensi: Mantegna, 1999).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BTC - ETH (Korelasi 0.90) → Jarak: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0.45 (Sangat Dekat)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BTC - LTC (Korelasi 0.85) → Jarak: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0.55 (Dekat)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ETH - XRP (Korelasi 0.40) → Jarak: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1.10 (Jauh)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2. Menghubungkan Titik (Kruskal's Algorithm):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Langkah 1: Hubungkan BTC &amp; ETH (Jalur Terkuat).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Langkah 2: Hubungkan BTC &amp; LTC (Jalur Kedua).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Langkah 3: Hubungkan ETH &amp; XRP (Jalur Ketiga).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Ciri Khas MST: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Hanya menyisakan (N-1) koneksi terkuat dan dilarang membentuk loop. Di sini terlihat BTC menjadi 'Hub' karena ia yang menghubungkan banyak koin.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Rumus Konversi Korelasi ke Jarak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Untuk membangun jaringan, korelasi harus diubah menjadi skor jarak (Metric Space).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Rumus (Mantegna, 1999): d_ij = √(2(1 - ρ_ij))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Simulasi Tabel Jarak: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Korelasi 1.00 (Identik) → d = √(2(1-1)) =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Korelasi 0.50 (Kuat) → d = √(2(1-0.5)) = √(1) = </a:t>
            </a:r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1.00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Korelasi 0.00 (Acak) → d = √(2(1-0)) = √(2) ≈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1.41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Korelasi -1.00 (Berlawanan) → d = √(2(1-(-1))) = √(4) =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2.00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Logika Utama: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Hubungan searah → Jarak Pendek (Aset sering bergerak bersama).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Hubungan berlawanan → Jarak Jauh (Aset saling menjauh).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MST hanya mengambil jalur-jalur dengan Jarak (d) paling kecil agar efisien.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Apakah Jaringan Selalu Berbentuk Star?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Jawaban: TIDAK. Topologi jaringan bersifat dinamis mengikuti rezim pasar.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1. Tipe Star (Sentralistik):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Muncul saat pasar panik atau crash.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Semua aset mengekor pada satu koin dominan (Hub).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Penalti NW akan sangat berat pada koin pusat tersebut.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2. Tipe Terdistribusi (Cluster):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Muncul saat pasar tenang atau aset memiliki 'narasi' berbeda.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Hubungan terbagi ke beberapa kelompok (misal: DeFi Group, Stablecoin Group).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Penalti NW akan lebih menyebar dan diversifikasi lebih alami.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Dinamika dalam NW: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Kekuatan Network Markowitz adalah kemampuannya mendeteksi transisi bentuk ini secara real-time melalui data historis.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Berapa Banyak Perhitungan Korelasi?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Untuk membangun satu matriks utuh, setiap aset harus dipasangkan satu sama lain.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Rumus Kombinasi: C(N,2) = (N × (N - 1)) / 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Simulasi untuk 10 Aset (N=10):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Jumlah Pasangan Unik = (10 × 9) / 2 =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45 Perhitungan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Detail Penjabaran: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Koin ke-1 (BTC) berpasangan dengan 9 koin lainnya.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Koin ke-2 (ETH) berpasangan dengan 8 koin sisa.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Koin ke-3 (XRP) berpasangan dengan 7 koin sisa.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... Seterusnya.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Total: 9 + 8 + 7 + 6 + 5 + 4 + 3 + 2 + 1 =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45</a:t>
            </a:r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Fakta Matriks 10x10: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Meskipun ada 100 kotak di matriks, komputer hanya perlu menghitung 45 angka unik karena korelasi bersifat cermin (A-B sama dengan B-A) dan tengahnya selalu 1 (A-A).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Alur Transformasi Matriks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Proses ini memastikan data statistik mentah bisa divisualisasikan menjadi peta risiko.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Langkah 1: Matriks Korelasi (Pearson)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Berisi angka -1 s/d 1. Menunjukkan 'Kemiripan' gerak aset.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Langkah 2: Matriks Jarak (Metric Distance)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Angka korelasi diubah menjadi angka 0 s/d 2 (Jarak). Semakin mirip aset, semakin 'nempel' (jarak mendekati 0).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Langkah 3: Bangun Jaringan (MST Algorithm)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Komputer membaca Matriks Jarak sebagai peta jalan tol, lalu memilih rute terpendek untuk menghubungkan seluruh aset.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Hasil Akhir: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Jaringan (Network) yang siap digunakan untuk menghitung skor penalti penularan risiko sistemik.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Mekanisme Penalty Centrality (Risiko Penularan)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Kenapa koin yang 'populer' di jaringan justru diberi hukuman (penalti)?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Analogi Bandara Transit (Hub):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Jika Bandara transit utama (misal: Singapura) terkena badai, maka seluruh penerbangan di Asia Tenggara akan ikut kacau. Singapura adalah 'Hub' dengan Centrality tinggi.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Skenario di Kripto (Dominasi BTC):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BTC terhubung ke semua koin lain dalam MST.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• Skor Centrality BTC =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1.00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(Maksimal).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Cara Model NW Menghitung Risiko: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Risiko Baru = Risiko Harga + (γ ×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1.00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Tujuan Penalti: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Agar portofolio tidak menaruh terlalu banyak modal pada koin yang bisa memicu 'Efek Domino'. Jika BTC rontok, penalti memastikan kita sudah punya cadangan di koin-koin 'pinggiran' (peripheral) yang lebih mandiri.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Lampiran: Cara Menghitung Centrality (Degree Centrality)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Metode Degree Centrality mengukur seberapa banyak 'tangan' yang dimiliki sebuah aset untuk memegang aset lain.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Rumus: Centrality = Jumlah Koneksi / (N - 1)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Simulasi untuk 5 Aset (BTC, ETH, XRP, LTC, USDT):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Aset Utama (N) = 5. Pembagi (N-1) = 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Aset BTC (Terkoneksi ke ETH, XRP, LTC):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3 Koneksi / 4 =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0.75 (Centrality Tinggi)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Aset LTC (Terkoneksi ke BTC &amp; USDT):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2 Koneksi / 4 = </a:t>
            </a:r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0.50 (Centrality Sedang)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Aset ETH, XRP, USDT (Hanya 1 Koneksi):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1 Koneksi / 4 =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0.25 (Centrality Rendah)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Dampak Penalti NW: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Karena BTC memiliki skor 0.75, ia akan menerima penalti 3x lebih besar daripada ETH (0.25). Ini menjaga portofolio tetap terdiversifikasi dari pusat jaringan.</a:t>
            </a:r>
            <a:endParaRPr lang="en-US" sz="16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Dua Tipe Pendekatan Grid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Dua Objektif Optimasi (Return vs Risk):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1. Network Markowitz dengan Target Return (NW - Return Grid Search):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Memaksimalkan capaian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imbal hasil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portofolio.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Lebih Agresif untuk mengeksploitasi reli pada pasar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Bullish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2. Network Markowitz dengan Target Risiko (NW - Risk Grid Search):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Menekan parameter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risiko total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hingga minimal.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Lebih Defensif untuk meredam fluktuasi saat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Crypto Winter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Penanganan Data Kosong (Missing Values)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Pertanyaan: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"Beberapa koin seperti Binance/EOS belum rilis di awal 2017 sehingga datanya kosong. Bukankah backward-fill memalsukan harga dan merusak matriks?"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Jawaban (Kenapa RMT sangat Krusial):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1. Praktik pengisian data diam (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backward fill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 memang menciptakan rentetan nilai harga yang statis.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2. Namun, kehebatan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Random Matrix Theory (RMT)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diuji di sini! Karena data yang datar sama sekali tidak punya korelasi nyata.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3. RMT otomatis akan mendeteksi korelasi buatan tersebut sebagai probabilitas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Noise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lalu membuangnya menjadi 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4. Hasilnya, matriks korelasi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terselamatkan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tidak tercemar oleh cacat kelengkapan data.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Menyertakan Tether (USDT)?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Pertanyaan: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"Tether (USDT) itu stablecoin yang nilainya selalu fix ke 1 USD. Apakah tidak berbuat curang?"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Jawaban (Dinamika Portofolio Cerdas):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ini mensimulasikan perilaku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Robo-Advisory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institusional.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Ketika pasar anjlok ekstrem, investor akan melarikan senjatanya ke posisi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tunai (USDT)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evakuasi risiko.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Menyertakan Tether (USDT)?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Algoritma jaringan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Network Markowitz GS (Grid Search)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dilatih secara matematis; jika mendeteksi korelasi ancaman kolaps merambat ke semua altcoin, ia akan melempar alokasi modalnya menuju node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USDT (Tether)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langkah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evakuasi otomatis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(Shock-Absorber).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4. Hal ini yang membuat performa Risk-GS (Grid Search) sangat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tangguh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dari serangan Crypto Winter, suatu kapabilitas pertahanan yang tidak dipahami oleh model ortodoks murni Markowitz.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Bukti Empiris Non-Stationarity Pasar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Masalah: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Kenapa harus menggunakan model Adaptif (Dynamic Gamma)?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Bukti dari Grid Search: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menunjukkan nilai Gamma (γ) optimal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terus bergeser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setiap periode rebalancing.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Penggunaan γ statis tidak cukup untuk menangkap perubahan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struktur korelasi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sangat cepat di pasar kripto.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 membenarkan bahwa pasar kripto membutuhkan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kalibrasi otomatis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secara temporal.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Jaringan sebagai 'Shock-Absorber'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Konsep Teoritis: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Eigenvector Centrality mengidentifikasi koin yang menjadi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hub risiko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Penalti Gamma memaksa portofolio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menjauhi aset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terlalu dominan secara sistemik saat volatilitas tinggi.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Hasil pada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Tabel 5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membuktikan bahwa saat crash, distribusi kerugian ekor model NW (Network Markowitz) jauh lebih terjaga.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Kesimpulan: Topologi jaringan memberikan sinyal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diversifikasi akurat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daripada sekadar variansi harga.</a:t>
            </a:r>
            <a:endParaRPr lang="en-US" sz="1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7772400" y="4846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Daftar Isi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2026-04-09T09:52:56Z</dcterms:created>
  <dcterms:modified xsi:type="dcterms:W3CDTF">2026-04-09T09:52:56Z</dcterms:modified>
</cp:coreProperties>
</file>