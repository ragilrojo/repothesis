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notesMasterIdLst>
    <p:notesMasterId r:id="rId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notesMaster" Target="notesMasters/notesMaster1.xml"/><Relationship Id="rId62" Type="http://schemas.openxmlformats.org/officeDocument/2006/relationships/presProps" Target="presProps.xml"/><Relationship Id="rId63" Type="http://schemas.openxmlformats.org/officeDocument/2006/relationships/viewProps" Target="viewProps.xml"/><Relationship Id="rId64" Type="http://schemas.openxmlformats.org/officeDocument/2006/relationships/theme" Target="theme/theme1.xml"/><Relationship Id="rId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11.xml"/><Relationship Id="rId5" Type="http://schemas.openxmlformats.org/officeDocument/2006/relationships/slide" Target="slide12.xml"/><Relationship Id="rId6" Type="http://schemas.openxmlformats.org/officeDocument/2006/relationships/slide" Target="slide13.xml"/><Relationship Id="rId7" Type="http://schemas.openxmlformats.org/officeDocument/2006/relationships/slide" Target="slide15.xml"/><Relationship Id="rId8" Type="http://schemas.openxmlformats.org/officeDocument/2006/relationships/slide" Target="slide16.xml"/><Relationship Id="rId9" Type="http://schemas.openxmlformats.org/officeDocument/2006/relationships/slide" Target="slide3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31.xml"/><Relationship Id="rId3" Type="http://schemas.openxmlformats.org/officeDocument/2006/relationships/slide" Target="slide32.xml"/><Relationship Id="rId4" Type="http://schemas.openxmlformats.org/officeDocument/2006/relationships/slide" Target="slide34.xml"/><Relationship Id="rId5" Type="http://schemas.openxmlformats.org/officeDocument/2006/relationships/slide" Target="slide55.xml"/><Relationship Id="rId6" Type="http://schemas.openxmlformats.org/officeDocument/2006/relationships/slide" Target="slide56.xml"/><Relationship Id="rId7" Type="http://schemas.openxmlformats.org/officeDocument/2006/relationships/slide" Target="slide57.xml"/><Relationship Id="rId8" Type="http://schemas.openxmlformats.org/officeDocument/2006/relationships/slide" Target="slide58.xml"/><Relationship Id="rId9" Type="http://schemas.openxmlformats.org/officeDocument/2006/relationships/slide" Target="slide17.xml"/><Relationship Id="rId10" Type="http://schemas.openxmlformats.org/officeDocument/2006/relationships/slide" Target="slide24.xml"/><Relationship Id="rId11" Type="http://schemas.openxmlformats.org/officeDocument/2006/relationships/slide" Target="slide26.xml"/><Relationship Id="rId12" Type="http://schemas.openxmlformats.org/officeDocument/2006/relationships/slide" Target="slide36.xml"/><Relationship Id="rId13" Type="http://schemas.openxmlformats.org/officeDocument/2006/relationships/slide" Target="slide47.xml"/><Relationship Id="rId14" Type="http://schemas.openxmlformats.org/officeDocument/2006/relationships/slide" Target="slide48.xml"/><Relationship Id="rId15" Type="http://schemas.openxmlformats.org/officeDocument/2006/relationships/slide" Target="slide2.xml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(Main Sections)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</a:rPr>
              <a:t>Lanjutan Daftar Isi: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D35400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LAMPIRAN TEKNIS (APPENDIX)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(IV. Lampiran Teknis)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TEKNIS (APPENDIX)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Value at Risk (VaR)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Sharpe Ratio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Rachev Ratio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Grid Search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endParaRPr lang="en-US" sz="1600" dirty="0"/>
          </a:p>
        </p:txBody>
      </p:sp>
      <p:sp>
        <p:nvSpPr>
          <p:cNvPr id="4" name="Text 2">
            <a:hlinkClick r:id="rId15" tooltip="" action="ppaction://hlinksldjump"/>
          </p:cNvPr>
          <p:cNvSpPr/>
          <p:nvPr/>
        </p:nvSpPr>
        <p:spPr>
          <a:xfrm>
            <a:off x="7315200" y="4846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7F8C8D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⬅ Kembali ke TOC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akumulatif. Digunakan untuk membandingkan pertumbuhan modal strategi vs benchmark CRIX.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2. Value at Risk (VaR):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Potensi kerugian maksimal (batas bawah) pada tingkat kepercayaan 95%. Membuktikan resiliensi model saat kondisi pasar crash.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Imbal hasil per unit risiko (volatilitas). Semakin tinggi, semakin baik kualitas efisiensi portofolio dalam menghasilkan profit.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8E44AD"/>
                </a:solidFill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Rasio potensi keuntungan ekstrem vs kerugian ekstrem. Sangat krusial karena data kripto memiliki 'Fat Tails' (distribusi tidak normal).</a:t>
            </a:r>
            <a:endParaRPr lang="en-US" sz="17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Value at Risk (VaR)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Berapa potensi kerugian maksimal dalam kondisi pasar normal?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Value at Risk (VaR) mengukur ambang batas kerugian maksimal pada tingkat kepercayaan tertentu (Confidence Level 95%) dalam periode harian.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Metode Simulasi Historis (Paling Sederhana):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Mengurutkan 100 hari return dari terburuk ke terbaik, lalu mengambil nilai persentil ke-5.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(Modal: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terburuk urutan ke-5 (P5): -8% (-0.08)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Perhitungan VaR (95%): Rp 10.000.000 × 0.08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Rp 800.000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4. Interpretasi Hasil: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Kita yakin 95% bahwa kerugian harian tidak akan melebihi Rp 800.000. Namun, ada 5% risiko (ekstrem) di masa depan di mana kerugian bisa lebih besar dari angka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Sharpe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kualitas imbal hasil per unit risiko?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Sharpe Ratio mengukur kelebihan imbal hasil (Excess Return) dibandingkan aset aman (Risk-Free) per satu satuan risiko (Volatilitas).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(Return Portofolio - Risk-Free Rate) / Standar Deviasi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Portofolio (Rp): 15% (0.15)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• Suku Bunga Bebas Risiko (Rf): 2% (0.02)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 (Basis: USDT Lending Rate)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Volatilitas Portofolio (σ): 10% (0.10)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(0.15 - 0.02) / 0.10 = 0.13 / 0.10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1.30 berarti untuk setiap 1% risiko yang diambil, portofolio memberikan imbal hasil tambahan sebesar 1.30%. Semakin tinggi nilai SR, semakin efisien portofolio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Rachev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rasio 'hadiah ekstrem' vs 'risiko ekstrem'?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Rachev Ratio mengukur keunggulan potensi keuntungan di ekor kanan (Right Tail) dibandingkan potensi kerugian di ekor kiri (Left Tail). Sangat relevan untuk aset kripto yang tidak berdistribusi normal.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RR = Avg. Profit (Top 5%) / Avg. Loss (Bottom 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Profit di Skenario Terbaik (Best 5%): +12%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Loss di Skenario Terburuk (Worst 5%): -8%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RR = 12% / 8%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1.50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1.50 berarti potensi imbal hasil ekstrem 1.5x lebih besar daripada risiko kerugian ekstrem. Angka &gt; 1 menunjukkan portofolio memiliki resiliensi tinggi terhadap 'Black Swan events'.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2026-04-09T21:22:30Z</dcterms:created>
  <dcterms:modified xsi:type="dcterms:W3CDTF">2026-04-09T21:22:30Z</dcterms:modified>
</cp:coreProperties>
</file>