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</p:sldIdLst>
  <p:notesMasterIdLst>
    <p:notesMasterId r:id="rId6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notesMaster" Target="notesMasters/notesMaster1.xml"/><Relationship Id="rId64" Type="http://schemas.openxmlformats.org/officeDocument/2006/relationships/presProps" Target="presProps.xml"/><Relationship Id="rId65" Type="http://schemas.openxmlformats.org/officeDocument/2006/relationships/viewProps" Target="viewProps.xml"/><Relationship Id="rId66" Type="http://schemas.openxmlformats.org/officeDocument/2006/relationships/theme" Target="theme/theme1.xml"/><Relationship Id="rId6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" Target="slide4.xml"/><Relationship Id="rId2" Type="http://schemas.openxmlformats.org/officeDocument/2006/relationships/slide" Target="slide5.xml"/><Relationship Id="rId3" Type="http://schemas.openxmlformats.org/officeDocument/2006/relationships/slide" Target="slide6.xml"/><Relationship Id="rId4" Type="http://schemas.openxmlformats.org/officeDocument/2006/relationships/slide" Target="slide7.xml"/><Relationship Id="rId5" Type="http://schemas.openxmlformats.org/officeDocument/2006/relationships/slide" Target="slide8.xml"/><Relationship Id="rId6" Type="http://schemas.openxmlformats.org/officeDocument/2006/relationships/slide" Target="slide9.xml"/><Relationship Id="rId7" Type="http://schemas.openxmlformats.org/officeDocument/2006/relationships/slide" Target="slide11.xml"/><Relationship Id="rId8" Type="http://schemas.openxmlformats.org/officeDocument/2006/relationships/slide" Target="slide12.xml"/><Relationship Id="rId9" Type="http://schemas.openxmlformats.org/officeDocument/2006/relationships/slide" Target="slide13.xml"/><Relationship Id="rId10" Type="http://schemas.openxmlformats.org/officeDocument/2006/relationships/slide" Target="slide14.xml"/><Relationship Id="rId11" Type="http://schemas.openxmlformats.org/officeDocument/2006/relationships/slide" Target="slide15.xml"/><Relationship Id="rId12" Type="http://schemas.openxmlformats.org/officeDocument/2006/relationships/slide" Target="slide16.xml"/><Relationship Id="rId13" Type="http://schemas.openxmlformats.org/officeDocument/2006/relationships/slide" Target="slide17.xml"/><Relationship Id="rId14" Type="http://schemas.openxmlformats.org/officeDocument/2006/relationships/slide" Target="slide3.xml"/><Relationship Id="rId15" Type="http://schemas.openxmlformats.org/officeDocument/2006/relationships/slideLayout" Target="../slideLayouts/slideLayout1.xml"/><Relationship Id="rId1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" Target="slide31.xml"/><Relationship Id="rId2" Type="http://schemas.openxmlformats.org/officeDocument/2006/relationships/slide" Target="slide32.xml"/><Relationship Id="rId3" Type="http://schemas.openxmlformats.org/officeDocument/2006/relationships/slide" Target="slide33.xml"/><Relationship Id="rId4" Type="http://schemas.openxmlformats.org/officeDocument/2006/relationships/slide" Target="slide35.xml"/><Relationship Id="rId5" Type="http://schemas.openxmlformats.org/officeDocument/2006/relationships/slide" Target="slide55.xml"/><Relationship Id="rId6" Type="http://schemas.openxmlformats.org/officeDocument/2006/relationships/slide" Target="slide17.xml"/><Relationship Id="rId7" Type="http://schemas.openxmlformats.org/officeDocument/2006/relationships/slide" Target="slide24.xml"/><Relationship Id="rId8" Type="http://schemas.openxmlformats.org/officeDocument/2006/relationships/slide" Target="slide26.xml"/><Relationship Id="rId9" Type="http://schemas.openxmlformats.org/officeDocument/2006/relationships/slide" Target="slide27.xml"/><Relationship Id="rId10" Type="http://schemas.openxmlformats.org/officeDocument/2006/relationships/slide" Target="slide37.xml"/><Relationship Id="rId11" Type="http://schemas.openxmlformats.org/officeDocument/2006/relationships/slide" Target="slide48.xml"/><Relationship Id="rId12" Type="http://schemas.openxmlformats.org/officeDocument/2006/relationships/slide" Target="slide49.xml"/><Relationship Id="rId13" Type="http://schemas.openxmlformats.org/officeDocument/2006/relationships/slide" Target="slide56.xml"/><Relationship Id="rId14" Type="http://schemas.openxmlformats.org/officeDocument/2006/relationships/slide" Target="slide57.xml"/><Relationship Id="rId15" Type="http://schemas.openxmlformats.org/officeDocument/2006/relationships/slide" Target="slide58.xml"/><Relationship Id="rId16" Type="http://schemas.openxmlformats.org/officeDocument/2006/relationships/slide" Target="slide59.xml"/><Relationship Id="rId17" Type="http://schemas.openxmlformats.org/officeDocument/2006/relationships/slide" Target="slide2.xml"/><Relationship Id="rId18" Type="http://schemas.openxmlformats.org/officeDocument/2006/relationships/slideLayout" Target="../slideLayouts/slideLayout1.xml"/><Relationship Id="rId19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" Target="slide17.xml"/><Relationship Id="rId2" Type="http://schemas.openxmlformats.org/officeDocument/2006/relationships/slide" Target="slide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slide" Target="slide2.xml"/><Relationship Id="rId1" Type="http://schemas.openxmlformats.org/officeDocument/2006/relationships/image" Target="../media/image-8-1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" Target="slide10.xml"/><Relationship Id="rId2" Type="http://schemas.openxmlformats.org/officeDocument/2006/relationships/slide" Target="slide11.xml"/><Relationship Id="rId3" Type="http://schemas.openxmlformats.org/officeDocument/2006/relationships/slide" Target="slide12.xml"/><Relationship Id="rId4" Type="http://schemas.openxmlformats.org/officeDocument/2006/relationships/slide" Target="slide13.xml"/><Relationship Id="rId5" Type="http://schemas.openxmlformats.org/officeDocument/2006/relationships/slide" Target="slide14.xml"/><Relationship Id="rId6" Type="http://schemas.openxmlformats.org/officeDocument/2006/relationships/slide" Target="slide2.xml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" Target="slide31.xml"/><Relationship Id="rId2" Type="http://schemas.openxmlformats.org/officeDocument/2006/relationships/slide" Target="slide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" Target="slide32.xml"/><Relationship Id="rId2" Type="http://schemas.openxmlformats.org/officeDocument/2006/relationships/slide" Target="slide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" Target="slide33.xml"/><Relationship Id="rId2" Type="http://schemas.openxmlformats.org/officeDocument/2006/relationships/slide" Target="slide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" Target="slide35.xml"/><Relationship Id="rId2" Type="http://schemas.openxmlformats.org/officeDocument/2006/relationships/slide" Target="slide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" Target="slide35.xml"/><Relationship Id="rId2" Type="http://schemas.openxmlformats.org/officeDocument/2006/relationships/slide" Target="slide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" Target="slide17.xml"/><Relationship Id="rId2" Type="http://schemas.openxmlformats.org/officeDocument/2006/relationships/slide" Target="slide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" Target="slide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09728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03366"/>
                </a:solidFill>
              </a:rPr>
              <a:t>Proposal Tesis:</a:t>
            </a:r>
            <a:endParaRPr lang="en-US" sz="4000" dirty="0"/>
          </a:p>
          <a:p>
            <a:pPr algn="ctr" indent="0" marL="0">
              <a:buNone/>
            </a:pPr>
            <a:r>
              <a:rPr lang="en-US" sz="4000" b="1" dirty="0">
                <a:solidFill>
                  <a:srgbClr val="003366"/>
                </a:solidFill>
              </a:rPr>
              <a:t>Optimalisasi Portofolio Adaptif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457200" y="237744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34495E"/>
                </a:solidFill>
              </a:rPr>
              <a:t>Berbasis Pendekatan
</a:t>
            </a:r>
            <a:pPr algn="ctr" indent="0" marL="0">
              <a:buNone/>
            </a:pPr>
            <a:r>
              <a:rPr lang="en-US" sz="2400" i="1" dirty="0">
                <a:solidFill>
                  <a:srgbClr val="34495E"/>
                </a:solidFill>
              </a:rPr>
              <a:t>Network Markowitz</a:t>
            </a:r>
            <a:pPr algn="ctr" indent="0" marL="0">
              <a:buNone/>
            </a:pPr>
            <a:r>
              <a:rPr lang="en-US" sz="2400" dirty="0">
                <a:solidFill>
                  <a:srgbClr val="34495E"/>
                </a:solidFill>
              </a:rPr>
              <a:t> dengan </a:t>
            </a:r>
            <a:pPr algn="ctr" indent="0" marL="0">
              <a:buNone/>
            </a:pPr>
            <a:r>
              <a:rPr lang="en-US" sz="2400" i="1" dirty="0">
                <a:solidFill>
                  <a:srgbClr val="34495E"/>
                </a:solidFill>
              </a:rPr>
              <a:t>2-Stage Grid Search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1148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7F8C8D"/>
                </a:solidFill>
              </a:rPr>
              <a:t>Oleh: Ragil Yulianto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Daftar Isi (Main Sections)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41148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I. PENDAHULUAN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Latar Belakang &amp; Motivasi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Masalah "Noise" di Kripto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3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Landasan Teori &amp; Literatur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4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Penelitian Terdahulu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5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Kerangka Pemikiran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6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Dataset Penelitian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II. STRATEGI PORTOFOLIO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7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Equally Weighted (EW)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8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Classical Markowitz (CM)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9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Graphical Lasso (GM)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10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Network Markowitz (Statis)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1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Network Markowitz (2-Stage GS)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754880" y="1005840"/>
            <a:ext cx="41148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III. EVALUASI PERFORMA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1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P&amp;L, Sharpe, VaR, Rachev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13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Analisis per Fase Pasar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E67E22"/>
                </a:solidFill>
              </a:rPr>
              <a:t>Lanjutan Daftar Isi: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➤ </a:t>
            </a:r>
            <a:pPr indent="0" marL="0">
              <a:buNone/>
            </a:pPr>
            <a:r>
              <a:rPr lang="en-US" sz="1600" b="1" u="sng" dirty="0">
                <a:solidFill>
                  <a:srgbClr val="D35400"/>
                </a:solidFill>
                <a:hlinkClick r:id="rId14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LAMPIRAN TEKNIS (APPENDIX)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Daftar Isi (IV. Lampiran Teknis)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IV. LAMPIRAN TEKNIS (APPENDIX)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Simulasi Strategi EW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Simulasi Strategi CM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3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Simulasi Strategi GLasso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4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Simulasi Strategi NW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5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Simulasi Cumulative P&amp;L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6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Random Matrix Theory (RMT)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7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Minimum Spanning Tree (MST)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8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Penalty &amp; Centrality Logic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9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Justifikasi Parameter Gamma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10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Simulasi 60/40 Weight Shift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1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Simulasi Grid Search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1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Justifikasi Rolling Window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13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Simulasi Cumulative P&amp;L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14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Simulasi Value at Risk (VaR)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15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Simulasi Sharpe Ratio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16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Simulasi Rachev Ratio</a:t>
            </a:r>
            <a:endParaRPr lang="en-US" sz="1600" dirty="0"/>
          </a:p>
        </p:txBody>
      </p:sp>
      <p:sp>
        <p:nvSpPr>
          <p:cNvPr id="4" name="Text 2">
            <a:hlinkClick r:id="rId17" tooltip="" action="ppaction://hlinksldjump"/>
          </p:cNvPr>
          <p:cNvSpPr/>
          <p:nvPr/>
        </p:nvSpPr>
        <p:spPr>
          <a:xfrm>
            <a:off x="7315200" y="4846320"/>
            <a:ext cx="1371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7F8C8D"/>
                </a:solidFill>
                <a:hlinkClick r:id="rId17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⬅ Kembali ke TOC 1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Latar Belakang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Tingginya volatilitas ekstrem dan </a:t>
            </a:r>
            <a:pPr indent="0" marL="0">
              <a:buNone/>
            </a:pPr>
            <a:r>
              <a:rPr lang="en-US" sz="2000" b="1" i="1" dirty="0">
                <a:solidFill>
                  <a:srgbClr val="333333"/>
                </a:solidFill>
              </a:rPr>
              <a:t>noise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memerlukan manajemen risiko yang presisi.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Kelemahan Markowitz: Rawan terhadap </a:t>
            </a:r>
            <a:pPr indent="0" marL="0">
              <a:buNone/>
            </a:pPr>
            <a:r>
              <a:rPr lang="en-US" sz="2000" b="1" i="1" dirty="0">
                <a:solidFill>
                  <a:srgbClr val="333333"/>
                </a:solidFill>
              </a:rPr>
              <a:t>estimation error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pada matriks kovarians.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Network Markowitz: Menyaring noise menggunakan </a:t>
            </a:r>
            <a:pPr indent="0" marL="0">
              <a:buNone/>
            </a:pPr>
            <a:r>
              <a:rPr lang="en-US" sz="2000" b="1" i="1" dirty="0">
                <a:solidFill>
                  <a:srgbClr val="333333"/>
                </a:solidFill>
              </a:rPr>
              <a:t>Random Matrix Theory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(RMT) untuk rekonstruksi stabilitas.</a:t>
            </a:r>
            <a:endParaRPr lang="en-US" sz="20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Apa itu "Noise" di Pasar Kripto?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Noise (Kebisingan) Pasar: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Fluktuasi harga acak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akibat sentimen sesaat, rumor, FOMO (Fear Of Missing Out), atau spekulasi yang tidak mencerminkan nilai fundamental aset.</a:t>
            </a:r>
            <a:endParaRPr lang="en-US" sz="1800" dirty="0"/>
          </a:p>
          <a:p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Estimation Error (Korelasi Palsu):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Model tradisional seringkali menangkap pergerakan acak ini sebagai korelasi tinggi antar aset, menghasilkan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matriks kovarians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yang </a:t>
            </a:r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berisik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dan tidak stabil.</a:t>
            </a:r>
            <a:endParaRPr lang="en-US" sz="1800" dirty="0"/>
          </a:p>
          <a:p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Solusi Random Matrix Theory (</a:t>
            </a:r>
            <a:pPr indent="0" marL="0">
              <a:buNone/>
            </a:pPr>
            <a:r>
              <a:rPr lang="en-US" sz="1800" b="1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RMT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Berfungsi sebagai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filter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untuk memisahkan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korelasi sejati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(sinyal struktur pasar) dari sekadar pergerakan kebetulan (</a:t>
            </a:r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noise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), memastikan alokasi portofolio tidak tertipu oleh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fluktuasi semu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</p:txBody>
      </p:sp>
      <p:sp>
        <p:nvSpPr>
          <p:cNvPr id="4" name="Text 2">
            <a:hlinkClick r:id="rId2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Landasan Teori Utama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41148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03366"/>
                </a:solidFill>
              </a:rPr>
              <a:t>Tinjauan Portofolio &amp; Risiko: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➤ </a:t>
            </a:r>
            <a:pPr indent="0" marL="0">
              <a:buNone/>
            </a:pPr>
            <a:r>
              <a:rPr lang="en-US" sz="2000" b="1" u="sng" dirty="0">
                <a:solidFill>
                  <a:srgbClr val="333333"/>
                </a:solidFill>
              </a:rPr>
              <a:t>Portofolio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: Diversifikasi aset untuk optimasi return-risiko.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➤ </a:t>
            </a:r>
            <a:pPr indent="0" marL="0">
              <a:buNone/>
            </a:pPr>
            <a:r>
              <a:rPr lang="en-US" sz="2000" b="1" u="sng" dirty="0">
                <a:solidFill>
                  <a:srgbClr val="333333"/>
                </a:solidFill>
              </a:rPr>
              <a:t>Volatilitas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: Ukuran fluktuasi harga pasar.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➤ </a:t>
            </a:r>
            <a:pPr indent="0" marL="0">
              <a:buNone/>
            </a:pPr>
            <a:r>
              <a:rPr lang="en-US" sz="2000" b="1" u="sng" dirty="0">
                <a:solidFill>
                  <a:srgbClr val="333333"/>
                </a:solidFill>
              </a:rPr>
              <a:t>Kovarians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: Ukuran pergerakan bersama aset.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754880" y="1097280"/>
            <a:ext cx="41148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03366"/>
                </a:solidFill>
              </a:rPr>
              <a:t>Pendekatan Struktur Jaringan: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➤ </a:t>
            </a:r>
            <a:pPr indent="0" marL="0">
              <a:buNone/>
            </a:pPr>
            <a:r>
              <a:rPr lang="en-US" sz="2000" b="1" u="sng" dirty="0">
                <a:solidFill>
                  <a:srgbClr val="333333"/>
                </a:solidFill>
              </a:rPr>
              <a:t>RMT (Random Matrix Theory)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: Filter noise untuk kestabilan matriks.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➤ </a:t>
            </a:r>
            <a:pPr indent="0" marL="0">
              <a:buNone/>
            </a:pPr>
            <a:r>
              <a:rPr lang="en-US" sz="2000" b="1" u="sng" dirty="0">
                <a:solidFill>
                  <a:srgbClr val="333333"/>
                </a:solidFill>
              </a:rPr>
              <a:t>MST (Minimum Spanning Tree)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: Jaringan korelasi terkuat tanpa loop.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➤ </a:t>
            </a:r>
            <a:pPr indent="0" marL="0">
              <a:buNone/>
            </a:pPr>
            <a:r>
              <a:rPr lang="en-US" sz="2000" b="1" u="sng" dirty="0">
                <a:solidFill>
                  <a:srgbClr val="333333"/>
                </a:solidFill>
              </a:rPr>
              <a:t>Centrality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: Metrik risiko penularan sistemik.</a:t>
            </a:r>
            <a:endParaRPr lang="en-US" sz="2000" dirty="0"/>
          </a:p>
        </p:txBody>
      </p:sp>
      <p:sp>
        <p:nvSpPr>
          <p:cNvPr id="5" name="Text 3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Penelitian Terdahulu (State of the Art)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1. Giudici et al. (2020):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Pelopor model Network Markowitz yang memadukan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RMT (Random Matrix Theory)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dan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MST (Minimum Spanning Tree)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di kripto.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2. Kitanovski et al. (2022):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Mendemonstrasikan diversifikasi berbasis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deteksi komunitas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jaringan.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3. Jing &amp; Rocha (2023):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Pemilihan koin topologi MST (Minimum Spanning Tree) mengalahkan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semua benchmark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6A085"/>
                </a:solidFill>
              </a:rPr>
              <a:t>4. Kitanovski et al. (2024):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Penalti graf sangat resilien meredam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eksposur ekstrem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F39C12"/>
                </a:solidFill>
              </a:rPr>
              <a:t>5. Jing et al. (2025):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Penggabungan Network-MPT (Modern Portfolio Theory) memberikan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prediksi stabil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di fase terbaru.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Kerangka Pemikiran / Penelitian</a:t>
            </a:r>
            <a:endParaRPr lang="en-US" sz="2800" dirty="0"/>
          </a:p>
        </p:txBody>
      </p:sp>
      <p:pic>
        <p:nvPicPr>
          <p:cNvPr id="3" name="Image 0" descr="framwrok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1005840"/>
            <a:ext cx="7315200" cy="3657600"/>
          </a:xfrm>
          <a:prstGeom prst="rect">
            <a:avLst/>
          </a:prstGeom>
        </p:spPr>
      </p:pic>
      <p:sp>
        <p:nvSpPr>
          <p:cNvPr id="4" name="Text 1">
            <a:hlinkClick r:id="rId2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Dataset: 10 Aset Kripto Utama</a:t>
            </a:r>
            <a:endParaRPr lang="en-US" sz="28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822960"/>
          <a:ext cx="82296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Ticker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Nama Aset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Kategori / Use Case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36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</a:rPr>
                        <a:t>BTC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</a:rPr>
                        <a:t>Bitcoin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</a:rPr>
                        <a:t>Layer 1 / Store of Value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</a:rPr>
                        <a:t>ETH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</a:rPr>
                        <a:t>Ethereum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</a:rPr>
                        <a:t>Layer 1 / Smart Contract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</a:rPr>
                        <a:t>XRP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</a:rPr>
                        <a:t>Ripple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</a:rPr>
                        <a:t>Payment / Bridge Currency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</a:rPr>
                        <a:t>USDT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</a:rPr>
                        <a:t>Tether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</a:rPr>
                        <a:t>Stablecoin / USD Pegged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</a:rPr>
                        <a:t>BCH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</a:rPr>
                        <a:t>Bitcoin Cash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</a:rPr>
                        <a:t>Payment / Peer-to-Peer Cash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</a:rPr>
                        <a:t>LTC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</a:rPr>
                        <a:t>Litecoin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</a:rPr>
                        <a:t>Payment / Digital Silver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</a:rPr>
                        <a:t>BNB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</a:rPr>
                        <a:t>Binance Coin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</a:rPr>
                        <a:t>Layer 1 / Exchange Token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</a:rPr>
                        <a:t>EOS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</a:rPr>
                        <a:t>EOS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</a:rPr>
                        <a:t>Layer 1 / Smart Contract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</a:rPr>
                        <a:t>XLM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</a:rPr>
                        <a:t>Stellar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</a:rPr>
                        <a:t>Payment / Bridge Currency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</a:rPr>
                        <a:t>TRX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</a:rPr>
                        <a:t>Tron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</a:rPr>
                        <a:t>Layer 1 / Smart Contract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/>
          <p:nvPr/>
        </p:nvSpPr>
        <p:spPr>
          <a:xfrm>
            <a:off x="457200" y="4663440"/>
            <a:ext cx="73152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3366"/>
                </a:solidFill>
              </a:rPr>
              <a:t>Statistik Dataset: </a:t>
            </a:r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</a:rPr>
              <a:t>14 Sept 2017 - 17 Okt 2019 </a:t>
            </a:r>
            <a:pPr indent="0" marL="0">
              <a:buNone/>
            </a:pPr>
            <a:r>
              <a:rPr lang="en-US" sz="1200" b="1" dirty="0">
                <a:solidFill>
                  <a:srgbClr val="003366"/>
                </a:solidFill>
              </a:rPr>
              <a:t>| Total: </a:t>
            </a:r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</a:rPr>
              <a:t>764 observasi harian</a:t>
            </a:r>
            <a:endParaRPr lang="en-US" sz="1200" dirty="0"/>
          </a:p>
        </p:txBody>
      </p:sp>
      <p:sp>
        <p:nvSpPr>
          <p:cNvPr id="5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Strategi Portofolio yang Disimulasikan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03366"/>
                </a:solidFill>
              </a:rPr>
              <a:t>1. Kelompok Baseline: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22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EW (Equally Weighted)</a:t>
            </a:r>
            <a:pPr indent="0" marL="0">
              <a:buNone/>
            </a:pP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2200" u="sng" dirty="0">
                <a:solidFill>
                  <a:srgbClr val="0563C1"/>
                </a:solidFill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CM (Classical Markowitz)</a:t>
            </a:r>
            <a:pPr indent="0" marL="0">
              <a:buNone/>
            </a:pP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003366"/>
                </a:solidFill>
              </a:rPr>
              <a:t>2. Kelompok Regularisasi: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2200" u="sng" dirty="0">
                <a:solidFill>
                  <a:srgbClr val="0563C1"/>
                </a:solidFill>
                <a:hlinkClick r:id="rId3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GM (Glasso Markowitz)</a:t>
            </a:r>
            <a:pPr indent="0" marL="0">
              <a:buNone/>
            </a:pP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003366"/>
                </a:solidFill>
              </a:rPr>
              <a:t>3. Kelompok Network (Statis):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2200" u="sng" dirty="0">
                <a:solidFill>
                  <a:srgbClr val="0563C1"/>
                </a:solidFill>
                <a:hlinkClick r:id="rId4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NW Statis (γ fixed)</a:t>
            </a:r>
            <a:pPr indent="0" marL="0">
              <a:buNone/>
            </a:pP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003366"/>
                </a:solidFill>
              </a:rPr>
              <a:t>4. Kelompok Network (Adaptive Tuned):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2200" u="sng" dirty="0">
                <a:solidFill>
                  <a:srgbClr val="0563C1"/>
                </a:solidFill>
                <a:hlinkClick r:id="rId5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NW 2-Stage GS (VAR, Sharpe, Rachev)</a:t>
            </a:r>
            <a:endParaRPr lang="en-US" sz="2200" dirty="0"/>
          </a:p>
        </p:txBody>
      </p:sp>
      <p:sp>
        <p:nvSpPr>
          <p:cNvPr id="4" name="Text 2">
            <a:hlinkClick r:id="rId6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6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1.1. Equally Weighted (EW)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Konsep Dasar: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Strategi alokasi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1/N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tanpa mempertimbangkan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parameter risiko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.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Keunggulan: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Berfungsi sebagai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benchmark naif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yang tangguh.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Tidak memiliki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estimation risk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karena minim statistik.</a:t>
            </a:r>
            <a:endParaRPr lang="en-US" sz="2000" dirty="0"/>
          </a:p>
          <a:p>
            <a:pPr indent="0" marL="0">
              <a:buNone/>
            </a:pPr>
            <a:endParaRPr lang="en-US" sz="2000" dirty="0"/>
          </a:p>
          <a:p>
            <a:pPr indent="0" marL="0">
              <a:buNone/>
            </a:pPr>
            <a:r>
              <a:rPr lang="en-US" sz="14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[Lihat Detail Simulasi Lampiran]</a:t>
            </a:r>
            <a:endParaRPr lang="en-US" sz="2000" dirty="0"/>
          </a:p>
        </p:txBody>
      </p:sp>
      <p:sp>
        <p:nvSpPr>
          <p:cNvPr id="4" name="Text 2">
            <a:hlinkClick r:id="rId2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1.2. Classical Markowitz (CM)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Konsep Dasar: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Meminimalkan variansi untuk tingkat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imbal hasil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tertentu.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Kelemahan: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Menderita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ketidakstabilan numerik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pada data yang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sangat berisik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(noisy).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Pondasi dasar sebagai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teori tradisional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dalam penelitian ini.</a:t>
            </a:r>
            <a:endParaRPr lang="en-US" sz="2000" dirty="0"/>
          </a:p>
          <a:p>
            <a:pPr indent="0" marL="0">
              <a:buNone/>
            </a:pPr>
            <a:endParaRPr lang="en-US" sz="2000" dirty="0"/>
          </a:p>
          <a:p>
            <a:pPr indent="0" marL="0">
              <a:buNone/>
            </a:pPr>
            <a:r>
              <a:rPr lang="en-US" sz="14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[Lihat Detail Simulasi Lampiran]</a:t>
            </a:r>
            <a:endParaRPr lang="en-US" sz="2000" dirty="0"/>
          </a:p>
        </p:txBody>
      </p:sp>
      <p:sp>
        <p:nvSpPr>
          <p:cNvPr id="4" name="Text 2">
            <a:hlinkClick r:id="rId2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2. Graphical Lasso Markowitz (GM)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Konsep Dasar: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Menggunakan algoritma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Lasso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pada matriks presisi (invers kovarians) untuk memaksa korelasi yang tidak signifikan menjadi nol.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Tujuan: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Menciptakan struktur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'sparsity'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(kerekatan) pada jaringan.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Menangani tantangan data kripto yang sering terkorelasi secara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palsu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(spurious correlations).</a:t>
            </a:r>
            <a:endParaRPr lang="en-US" sz="2000" dirty="0"/>
          </a:p>
          <a:p>
            <a:pPr indent="0" marL="0">
              <a:buNone/>
            </a:pPr>
            <a:endParaRPr lang="en-US" sz="2000" dirty="0"/>
          </a:p>
          <a:p>
            <a:pPr indent="0" marL="0">
              <a:buNone/>
            </a:pPr>
            <a:r>
              <a:rPr lang="en-US" sz="14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[Lihat Detail Simulasi Lampiran]</a:t>
            </a:r>
            <a:endParaRPr lang="en-US" sz="2000" dirty="0"/>
          </a:p>
        </p:txBody>
      </p:sp>
      <p:sp>
        <p:nvSpPr>
          <p:cNvPr id="4" name="Text 2">
            <a:hlinkClick r:id="rId2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3. Network Markowitz (NW) Statis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Konsep Dasar: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Model jaringan original (Giudici et al., 2020) yang menggabungkan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filter RMT (Random Matrix Theory)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dan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penalti sentralitas graf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.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Karakteristik: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Menggunakan parameter penalti (gamma) yang bersifat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statis/tetap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(hard-coded).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Digunakan sebagai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pembanding langsung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untuk menguji efisiensi parameter adaptif.</a:t>
            </a:r>
            <a:endParaRPr lang="en-US" sz="2000" dirty="0"/>
          </a:p>
          <a:p>
            <a:pPr indent="0" marL="0">
              <a:buNone/>
            </a:pPr>
            <a:endParaRPr lang="en-US" sz="2000" dirty="0"/>
          </a:p>
          <a:p>
            <a:pPr indent="0" marL="0">
              <a:buNone/>
            </a:pPr>
            <a:r>
              <a:rPr lang="en-US" sz="14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[Lihat Detail Simulasi Lampiran]</a:t>
            </a:r>
            <a:endParaRPr lang="en-US" sz="2000" dirty="0"/>
          </a:p>
        </p:txBody>
      </p:sp>
      <p:sp>
        <p:nvSpPr>
          <p:cNvPr id="4" name="Text 2">
            <a:hlinkClick r:id="rId2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4. Network Markowitz (NW) Adaptive Tuned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41148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03366"/>
                </a:solidFill>
              </a:rPr>
              <a:t>2-Stage Grid Search (Coarse-to-Fine):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❑ Tahap 1 (Coarse): Mencari range optimal (W, γ) secara makro.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❑ Tahap 2 (Fine): Zoom-in pencarian di sekitar titik terbaik Stage 1.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❑ Tuning spesifik untuk 3 Target: VAR, SHARPE, dan RACHEV.</a:t>
            </a:r>
            <a:endParaRPr lang="en-US" sz="20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❑ Menjamin parameter terbaik tanpa beban komputasi brute-force penuh.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754880" y="1097280"/>
            <a:ext cx="41148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03366"/>
                </a:solidFill>
              </a:rPr>
              <a:t>Objektif &amp; Resiliensi: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❑ Multi-Metric: Mencakup aspek risiko (VAR), efisiensi (Sharpe), dan ekor distribusi (Rachev).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❑ Adaptabilitas: Menyesuaikan Window Size (stabilitas) &amp; Gamma (penalti jaringan).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❑ Konsistensi: Validasi melalui Fine-Search memastikan solusi bukan noise lokal.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E67E22"/>
                </a:solidFill>
              </a:rPr>
              <a:t>❑ Hasil: Strategi yang lebih tangguh di berbagai fase pasar (Bearish, Recovery, Stable).</a:t>
            </a:r>
            <a:endParaRPr lang="en-US" sz="2000" dirty="0"/>
          </a:p>
          <a:p>
            <a:pPr indent="0" marL="0">
              <a:buNone/>
            </a:pPr>
            <a:endParaRPr lang="en-US" sz="2000" dirty="0"/>
          </a:p>
          <a:p>
            <a:pPr indent="0" marL="0">
              <a:buNone/>
            </a:pPr>
            <a:r>
              <a:rPr lang="en-US" sz="14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[Lihat Hasil Comparison &amp; Grid Search Lampiran]</a:t>
            </a:r>
            <a:endParaRPr lang="en-US" sz="2000" dirty="0"/>
          </a:p>
        </p:txBody>
      </p:sp>
      <p:sp>
        <p:nvSpPr>
          <p:cNvPr id="5" name="Text 3">
            <a:hlinkClick r:id="rId2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Matriks Evaluasi Performa (Multi-Metric)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03366"/>
                </a:solidFill>
              </a:rPr>
              <a:t>1. Cumulative Profits &amp; Losses (P&amp;L):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333333"/>
                </a:solidFill>
              </a:rPr>
              <a:t>   Mengukur total keuntungan/kerugian akumulatif vs benchmark.</a:t>
            </a:r>
            <a:endParaRPr lang="en-US" sz="1700" dirty="0"/>
          </a:p>
          <a:p>
            <a:pPr indent="0" marL="0">
              <a:buNone/>
            </a:pPr>
            <a:r>
              <a:rPr lang="en-US" sz="1700" b="1" dirty="0">
                <a:solidFill>
                  <a:srgbClr val="C0392B"/>
                </a:solidFill>
              </a:rPr>
              <a:t>2. Value at Risk (VaR 95%):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333333"/>
                </a:solidFill>
              </a:rPr>
              <a:t>   Fokus optimasi pada resiliensi risiko/batas bawah.</a:t>
            </a:r>
            <a:endParaRPr lang="en-US" sz="1700" dirty="0"/>
          </a:p>
          <a:p>
            <a:pPr indent="0" marL="0">
              <a:buNone/>
            </a:pPr>
            <a:r>
              <a:rPr lang="en-US" sz="1700" b="1" dirty="0">
                <a:solidFill>
                  <a:srgbClr val="27AE60"/>
                </a:solidFill>
              </a:rPr>
              <a:t>3. Sharpe Ratio (SR):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333333"/>
                </a:solidFill>
              </a:rPr>
              <a:t>   Fokus optimasi pada efisiensi imbal hasil per unit risiko.</a:t>
            </a:r>
            <a:endParaRPr lang="en-US" sz="1700" dirty="0"/>
          </a:p>
          <a:p>
            <a:pPr indent="0" marL="0">
              <a:buNone/>
            </a:pPr>
            <a:r>
              <a:rPr lang="en-US" sz="1700" b="1" dirty="0">
                <a:solidFill>
                  <a:srgbClr val="8E44AD"/>
                </a:solidFill>
              </a:rPr>
              <a:t>4. Rachev Ratio (RR):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333333"/>
                </a:solidFill>
              </a:rPr>
              <a:t>   Fokus optimasi pada perbandingan ekor distribusi (Fat-Tails).</a:t>
            </a:r>
            <a:endParaRPr lang="en-US" sz="1700" dirty="0"/>
          </a:p>
          <a:p>
            <a:pPr indent="0" marL="0">
              <a:buNone/>
            </a:pPr>
            <a:r>
              <a:rPr lang="en-US" sz="1400" b="1" dirty="0">
                <a:solidFill>
                  <a:srgbClr val="D35400"/>
                </a:solidFill>
              </a:rPr>
              <a:t>Justifikasi Multi-Objective:</a:t>
            </a:r>
            <a:endParaRPr lang="en-US" sz="1700" dirty="0"/>
          </a:p>
          <a:p>
            <a:pPr indent="0" marL="0">
              <a:buNone/>
            </a:pPr>
            <a:r>
              <a:rPr lang="en-US" sz="1400" i="1" dirty="0">
                <a:solidFill>
                  <a:srgbClr val="333333"/>
                </a:solidFill>
              </a:rPr>
              <a:t>Pasar kripto yang dinamis memerlukan tuning parameter yang berbeda tergantung apakah investor memprioritaskan keamanan (VaR), efisiensi (Sharpe), atau pemulihan (Rachev).</a:t>
            </a:r>
            <a:endParaRPr lang="en-US" sz="17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Evaluasi Berdasarkan Fase Pasar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822960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Pengujian pada 3 Kondisi Berbeda: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1. Fase Bearish (Jan 2018 - Mar 2019):</a:t>
            </a:r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 Menguji ketahanan model saat pasar jatuh tajam.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2. Fase Recovery (Apr 2019 - Jun 2019):</a:t>
            </a:r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 Menguji kecepatan adaptasi model saat tren berbalik positif.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3. Fase Stable (Jul 2019 - Okt 2019):</a:t>
            </a:r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 Menguji konsistensi model dalam kondisi pasar mendatar.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D35400"/>
                </a:solidFill>
              </a:rPr>
              <a:t>Metodologi Panel Performance: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✔ Panel A (Sharpe): Membandingkan efisiensi antar fase.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✔ Panel B (Rachev): Membandingkan resiliensi ekor distribusi.</a:t>
            </a:r>
            <a:endParaRPr lang="en-US" sz="1800" dirty="0"/>
          </a:p>
          <a:p>
            <a:pPr indent="0" marL="0">
              <a:buNone/>
            </a:pPr>
            <a:r>
              <a:rPr lang="en-US" sz="1800" i="1" dirty="0">
                <a:solidFill>
                  <a:srgbClr val="000000"/>
                </a:solidFill>
              </a:rPr>
              <a:t>✔ Kesimpulan: NW Tuned menunjukkan stabilitas lebih tinggi dibanding benchmark statis di setiap fase.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Lampiran: Analogi </a:t>
            </a:r>
            <a:pPr indent="0" marL="0">
              <a:buNone/>
            </a:pPr>
            <a:r>
              <a:rPr lang="en-US" sz="2800" b="1" u="sng" dirty="0">
                <a:solidFill>
                  <a:srgbClr val="003366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RMT (Random Matrix Theory)</a:t>
            </a:r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 sebagai "Noise-Canceling"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</a:rPr>
              <a:t>Pasar Kripto = Pesta yang Bising:</a:t>
            </a:r>
            <a:endParaRPr lang="en-US" sz="2200" dirty="0"/>
          </a:p>
          <a:p>
            <a:pPr marL="342900" indent="-342900">
              <a:buSzPct val="100000"/>
              <a:buChar char="•"/>
            </a:pPr>
            <a:r>
              <a:rPr lang="en-US" sz="2200" dirty="0">
                <a:solidFill>
                  <a:srgbClr val="333333"/>
                </a:solidFill>
              </a:rPr>
              <a:t>Banyak fluktuasi harga karena </a:t>
            </a:r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</a:rPr>
              <a:t>sentimen sesaat</a:t>
            </a:r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 / kebetulan (noise).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</a:rPr>
              <a:t>Sinyal Korelasi Asli = Suara yang Ingin Didengar:</a:t>
            </a:r>
            <a:endParaRPr lang="en-US" sz="2200" dirty="0"/>
          </a:p>
          <a:p>
            <a:pPr marL="342900" indent="-342900">
              <a:buSzPct val="100000"/>
              <a:buChar char="•"/>
            </a:pPr>
            <a:r>
              <a:rPr lang="en-US" sz="2200" dirty="0">
                <a:solidFill>
                  <a:srgbClr val="333333"/>
                </a:solidFill>
              </a:rPr>
              <a:t>Hubungan nyata antar-aset yang </a:t>
            </a:r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</a:rPr>
              <a:t>stabil dan berbobot</a:t>
            </a:r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.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</a:rPr>
              <a:t>Random Matrix Theory (RMT) = Headphone Noise-Canceling:</a:t>
            </a:r>
            <a:endParaRPr lang="en-US" sz="2200" dirty="0"/>
          </a:p>
          <a:p>
            <a:pPr marL="342900" indent="-342900">
              <a:buSzPct val="100000"/>
              <a:buChar char="•"/>
            </a:pPr>
            <a:r>
              <a:rPr lang="en-US" sz="2200" dirty="0">
                <a:solidFill>
                  <a:srgbClr val="333333"/>
                </a:solidFill>
              </a:rPr>
              <a:t>Membedakan gelombang statistik acak dari </a:t>
            </a:r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</a:rPr>
              <a:t>pola suara asli</a:t>
            </a:r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 menggunakan Distribusi MP (Marchenko-Pastur).</a:t>
            </a:r>
            <a:endParaRPr lang="en-US" sz="2200" dirty="0"/>
          </a:p>
          <a:p>
            <a:pPr marL="342900" indent="-342900">
              <a:buSzPct val="100000"/>
              <a:buChar char="•"/>
            </a:pPr>
            <a:r>
              <a:rPr lang="en-US" sz="2200" dirty="0">
                <a:solidFill>
                  <a:srgbClr val="333333"/>
                </a:solidFill>
              </a:rPr>
              <a:t>Meredam spekulasi jangka pendek untuk mencegah </a:t>
            </a:r>
            <a:pPr indent="0" marL="0">
              <a:buNone/>
            </a:pPr>
            <a:r>
              <a:rPr lang="en-US" sz="2200" b="1" i="1" dirty="0">
                <a:solidFill>
                  <a:srgbClr val="333333"/>
                </a:solidFill>
              </a:rPr>
              <a:t>estimation error</a:t>
            </a:r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.</a:t>
            </a:r>
            <a:endParaRPr lang="en-US" sz="2200" dirty="0"/>
          </a:p>
          <a:p>
            <a:pPr marL="342900" indent="-342900">
              <a:buSzPct val="100000"/>
              <a:buChar char="•"/>
            </a:pPr>
            <a:r>
              <a:rPr lang="en-US" sz="2200" dirty="0">
                <a:solidFill>
                  <a:srgbClr val="333333"/>
                </a:solidFill>
              </a:rPr>
              <a:t>Matriks tersisa adalah hubungan yang </a:t>
            </a:r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</a:rPr>
              <a:t>bersih dan terpercaya</a:t>
            </a:r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.</a:t>
            </a:r>
            <a:endParaRPr lang="en-US" sz="2200" dirty="0"/>
          </a:p>
        </p:txBody>
      </p:sp>
      <p:sp>
        <p:nvSpPr>
          <p:cNvPr id="4" name="Text 2">
            <a:hlinkClick r:id="rId2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Membedakan Hubungan Sejati (Signal) vs Noise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1. Mencari Nilai Eigen (Eigenvalues):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Mengekstrak angka yang mewakili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kekuatan pola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pergerakan bersama.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2. Batas Noise (Marchenko-Pastur):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RMT (Random Matrix Theory) menghitung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batas teoretis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maksimum dari matriks acak.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3. Uji Coba Signal vs Noise: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NOISE JALUR: Jika Eigenvalue &lt; λ_max. Dianggap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kebetulan acak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SIGNAL JALUR: Jika Eigenvalue &gt; λ_max. Dianggap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ikatan fundamental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4. Pembersihan &amp; Rekonstruksi: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Hanya nilai signal yang dipertahankan untuk membangun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matriks korelasi bersih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Bagaimana Menghitung Nilai Eigen?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1. Matriks Korelasi (C):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Membentuk tabel yang menjabarkan seluruh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korelasi pergerakan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harga antar sepasang koin.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2. Konsep Persamaan Karakteristik: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Mencari besaran skalar </a:t>
            </a:r>
            <a:pPr indent="0" marL="0">
              <a:buNone/>
            </a:pPr>
            <a:r>
              <a:rPr lang="en-US" sz="1800" b="1" i="1" dirty="0">
                <a:solidFill>
                  <a:srgbClr val="333333"/>
                </a:solidFill>
              </a:rPr>
              <a:t>λ (eigenvalue)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dan vektor arah yang memenuhi: </a:t>
            </a:r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C × v = λ × v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3. Solusi Determinan: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Nilai λ adalah akar dari persamaan determinan: </a:t>
            </a:r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Det(C - λI) = 0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4. Arti dari Spektrum Hasil: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Nilai λ terbesar mewakili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penggerak pasar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utama (Market Factor).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Praktek Sederhana Menghitung Eigenvalue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Konteks Dummy: 2 Koin, BTC (Bitcoin) &amp; ETH (Ethereum), korelasi = 0.5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1. Matriks Korelasi (C):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C = [ 1.0  0.5 ]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[ 0.5  1.0 ]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2. Persamaan: Det(C - λI) = 0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(1 - λ)² - (0.5)² = 0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λ² - 2λ + 0.75 = 0  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(λ - 1.5)(λ - 0.5) = 0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3. Hasil Akar Nilai Eigen: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   • λ₁ = 1.5 :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Market Factor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(Signal Kuat).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   • λ₂ = 0.5 :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Idiosyncratic Risk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(Noise).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Kesimpulan Filtering: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   Jika RMT (Random Matrix Theory) mematok batas λ_max = 1.0, maka λ₂ dianggap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Noise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lalu dinolkan, sementara λ₁ dijaga sebagai sinyal sejati.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Bagaimana Menghitung Korelasi?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1. Data Historis (Returns):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Input berupa runtut waktu dari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return harian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aset kripto.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2. Library &amp; Metode Python: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Dihitung menggunakan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Pandas (df.corr())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berbasis koefisien Pearson.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3. Formula Pearson Correlation: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ρ(X,Y) = Cov(X,Y) / (σX × σY)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4. Output Matriks (N x N):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Nilai berkisar antara -1 hingga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1 (searah)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 Diagonal selalu 1.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Apakah Nilai Eigen Statis?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Apakah Nilai Eigen Sudah Ditentukan (Statis)?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TIDAK. Nilai Eigen diekstrak langsung dari matriks korelasi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saat rebalancing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Proses Dinamis: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Matriks korelasi dihitung dari data terbaru via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rolling window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Batas filter Marchenko-Pastur ikut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dihitung ulang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mengikuti rasio data.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Kesimpulan: Sifat adaptif secara </a:t>
            </a:r>
            <a:pPr indent="0" marL="0">
              <a:buNone/>
            </a:pPr>
            <a:r>
              <a:rPr lang="en-US" sz="1600" b="1" i="1" dirty="0">
                <a:solidFill>
                  <a:srgbClr val="333333"/>
                </a:solidFill>
              </a:rPr>
              <a:t>real-time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merespons perubahan rezim pasar dengan cepat.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Menentukan Batas Noise (Marchenko-Pastur)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Apa itu Batas Marchenko-Pastur (MP)?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Prediksi bentuk distribusi dari matriks yang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100% acak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(noise).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Menghitung Batas Atas Noise (λ_max):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λ_max = 1 + (1/Q) + 2√(1/Q)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Apa itu Rasio Q?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Q = T / N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(Baris Data / Aset).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Mekanisme Filtering: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Eigenvalue &lt; λ_max :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Dihapus (Noise)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Eigenvalue &gt; λ_max :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Dipertahankan (Sinyal)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Analogi Minimum Spanning Tree (MST)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Membangun Jaringan Jalan Tol Antar Kota: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Hubungkan aset yang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paling dekat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(korelasi terkuat).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Semua koin harus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terhubung satu jaringan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Dilarang membuat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jalan memutar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(tanpa loop/redundansi).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Mengapa Kita Membutuhkan MST?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8E44AD"/>
                </a:solidFill>
              </a:rPr>
              <a:t>Menemukan Titik Kemacetan (Hub Centrality):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Di jaringan tol, kota besar menjadi pusat persimpangan. Di kripto, ini mewakili koin yang </a:t>
            </a:r>
            <a:pPr indent="0" marL="0">
              <a:buNone/>
            </a:pPr>
            <a:r>
              <a:rPr lang="en-US" sz="1800" b="1" i="1" dirty="0">
                <a:solidFill>
                  <a:srgbClr val="333333"/>
                </a:solidFill>
              </a:rPr>
              <a:t>sangat sentral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Jika terjadi kecelakaan di koin sentral, efeknya akan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langsung menular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ke seluruh jaringan.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Solusi Network Markowitz: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Koin sentral akan diberi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hukuman penalti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agar portofolio tetap kokoh saat koin tersebut crash.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Berapa Nilai "Penalti" (Gamma) yang Optimal?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Apakah Ada Satu Angka Penalti yang Sempurna?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TIDAK. Nilai gamma optimal berubah tergantung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siklus fluktuasi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1. Fase Bull Market (Pasar Menguat):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Penalti berat berisiko menghilangkan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peluang untung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 Gamma optimal cenderung rendah.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2. Fase Bear Market / Crash (Pasar Jatuh):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Keruntuhan koin sentral bisa memicu penularan (</a:t>
            </a:r>
            <a:pPr indent="0" marL="0">
              <a:buNone/>
            </a:pPr>
            <a:r>
              <a:rPr lang="en-US" sz="1600" b="1" i="1" dirty="0">
                <a:solidFill>
                  <a:srgbClr val="333333"/>
                </a:solidFill>
              </a:rPr>
              <a:t>Tail-Risk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). Gamma optimal cenderung tinggi.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Kesimpulan: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Grid Search membiarkan komputer menyesuaikan gamma secara otomatis dengan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data terbaru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Justifikasi Parameter Gamma (γ)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Berdasarkan Teori Giudici et al. (2020):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Parameter γ berfungsi sebagai pengukur aversi tingkat risiko sistemik investor.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1. Batas Bawah (γ = 0):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Model kembali ke Markowitz Tradisional. Investor sepenuhnya mengabaikan posisi aset dalam jaringan.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2. Batas Atas (γ = 1):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Investor memberikan bobot yang SETARA antara risiko individual (volatilitas) dan risiko sistemik (sentralitas).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Signifikansi Nilai 1: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✓ Batas "Aversi Risiko Tinggi" yang masuk akal secara konseptual.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✓ Risiko penularan (contagion) dianggap sama pentingnya dengan fluktuasi harga aset.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8E44AD"/>
                </a:solidFill>
              </a:rPr>
              <a:t>Optimalitas:</a:t>
            </a:r>
            <a:endParaRPr lang="en-US" sz="1800" dirty="0"/>
          </a:p>
          <a:p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Menjaga model agar tidak hanya mengejar return, tapi juga memastikan portofolio tidak hancur saat hub utama pasar kolaps.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Apa itu Classical Markowitz (CM)? (1/2)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Modern Portfolio Theory (MPT) / Mean-Variance Optimization: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Merupakan teori klasik (ditemukan oleh Harry Markowitz tahun 1952) yang mencoba meramu komposisi/bobot aset dalam portofolio dengan tujuan matematika murni: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Memaksimalkan tingkat keuntungan (Return) pada tingkat risiko tertentu, ATAU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Meminimalkan risiko (Variance) pada tingkat keuntungan tertentu.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Asumsi Dasar Classical Markowitz: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Investor diasumsikan sepenuhnya rasional dan benci risiko (</a:t>
            </a:r>
            <a:pPr indent="0" marL="0">
              <a:buNone/>
            </a:pPr>
            <a:r>
              <a:rPr lang="en-US" sz="1800" b="1" i="1" dirty="0">
                <a:solidFill>
                  <a:srgbClr val="333333"/>
                </a:solidFill>
              </a:rPr>
              <a:t>Risk-averse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).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Model ini sangat bergantung pada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matriks kovarians historis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sebagai pedoman utama memprediksi masa depan.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Mengapa Classical Markowitz Kesulitan? (2/2)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Kelemahan Klasik di Pasar Kripto: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Pasar kripto bersifat </a:t>
            </a:r>
            <a:pPr indent="0" marL="0">
              <a:buNone/>
            </a:pPr>
            <a:r>
              <a:rPr lang="en-US" sz="1800" b="1" i="1" dirty="0">
                <a:solidFill>
                  <a:srgbClr val="333333"/>
                </a:solidFill>
              </a:rPr>
              <a:t>hyper-volatile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dengan korelasi ekor tebal.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Model CM (Classical Markowitz) memakan mentah-mentah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noise acak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tanpa filter, berujung pada kegagalan prediksi.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Evolusi → Network Markowitz: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Mengembangkan CM (Classical Markowitz) dengan membersihkan noise menggunakan RMT (Random Matrix Theory) dan menghukum koin yang rawan menderita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efek contagion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menggunakan MST (Minimum Spanning Tree).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Detail Perhitungan Korelasi (Pearson)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Bagaimana angka 0.50 didapatkan? (Dummy 3 Hari)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Data Return (X=BTC, Y=ETH):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Hari 1: X=2%, Y=2% | Hari 2: X=-2%, Y=0% | Hari 3: X=0%, Y=-2%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Rata-rata (Mean): X̄ = 0, Ȳ = 0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Tabel Deviasi &amp; Perkalian: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Σ(x-x̄)(y-ȳ) = (2)(2) + (-2)(0) + (0)(-2)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4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Σ(x-x̄)² = (2)² + (-2)² + (0)²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8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Σ(y-ȳ)² = (2)² + (0)² + (-2)²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8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3. Rumus Korelasi (ρ):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ρ = Σ(dev_x * dev_y) / √(Σdev_x² * Σdev_y²)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ρ = 4 / √(8 * 8) = 4 / 8 =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0.50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Kesimpulan: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Angka ini menunjukkan arah pergerakan yang searah (positif) namun tidak identik, yang kemudian digunakan sebagai input matriks kovarians.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Contoh Sederhana Equally Weighted (EW)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Strategi 1/N: Alokasi Tanpa Rumit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1. Logika Dasar: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Membagi seluruh modal secara merata tanpa melihat performa masa lalu.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2. Simulasi (Dummy):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Total Modal: Rp 100.000.000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Jumlah Aset (N): 5 (BTC, ETH, XRP, LTC, USDT)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Bobot Tiap Aset: 1/5 = </a:t>
            </a:r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20%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(Tetap)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3. Sebaran Modal: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BTC: Rp 20jt | ETH: Rp 20jt | XRP: Rp 20jt | dst.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4. Mengapa EW Masuk Baseline?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Tidak menderita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error estimasi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karena tidak menghitung korelasi.</a:t>
            </a:r>
            <a:endParaRPr lang="en-US" sz="1800" dirty="0"/>
          </a:p>
          <a:p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   • Benchmark yang sangat tangguh; model kompleks harus bisa mengalahkan EW untuk dianggap valid.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Simulasi Sederhana Classical Markowitz (2 Aset)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Tujuan: Mencari bobot (w) untuk risiko terendah (Minimum Variance).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Data Input (Dummy):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A (BTC): Volatilitas (σ₁) = 20% (0.20)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B (ETH): Volatilitas (σ₂) = 30% (0.30)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Korelasi (ρ₁₂): 0.50 (Didapat dari return harian historis)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   • Kovarians (σ₁₂): </a:t>
            </a:r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ρ₁₂ × σ₁ × σ₂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= 0.50 × 0.20 × 0.30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0.03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Rumus Bobot Aset A (w₁):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w₁ = (σ₂² - Cov) / (σ₁² + σ₂² - 2·Cov)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w₁ = (0.09 - 0.03) / (0.04 + 0.09 - 0.06)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w₁ = 0.06 / 0.07 ≈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0.85 (85%)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3. Hasil Alokasi: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   • Bobot BTC: 85%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   • Bobot ETH: 15%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Kesimpulan Klasik: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Markowitz akan memilih aset dengan volatilitas lebih rendah (BTC) secara dominan. Namun, jika angka σ₁ dan σ₂ ini mengandung "noise", maka alokasi ini menjadi tidak optimal (Over-concentration).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Contoh GLasso (1/2: Korelasi)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Tujuan: Membuang korelasi palsu (noise) untuk mendapatkan sinyal pasar murni.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Matriks Korelasi Sebelum GLasso (Dirty):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BTC    ETH    DOGE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BTC  [ 1.00   0.70   0.08 ]  &lt;-- 0.08 (Noise)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ETH  [ 0.70   1.00   0.05 ]  &lt;-- 0.05 (Noise)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DOGE [ 0.08   0.05   1.00 ]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Proses Penalti (λ):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Algoritma GLasso menekan korelasi lemah menjadi nol.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3. Matriks Hasil GLasso (Clean/Sparse):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27AE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BTC    ETH    DOGE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27AE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BTC  [ 1.00   0.65   0.00 ]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27AE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ETH  [ 0.65   1.00   0.00 ]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27AE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DOGE [ 0.00   0.00   1.00 ]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Contoh GLasso (2/2: Dampak Bobot)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Bagaimana 'Pembersihan' mengubah alokasi modal?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4. Simulasi Perubahan Bobot (Weight Shift):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   • Alokasi Tanpa GLasso: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  BTC: 60%, ETH: 30%, </a:t>
            </a:r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DOGE: 10%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(Tertipu korelasi palsu).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   • Alokasi Dengan GLasso: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  BTC: 65%, ETH: 35%, </a:t>
            </a:r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DOGE: 0%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(Fokus pada korelasi sejati).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Kesimpulan &amp; Manfaat:</a:t>
            </a:r>
            <a:endParaRPr lang="en-US" sz="1800" dirty="0"/>
          </a:p>
          <a:p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Pembersihan noise melalui GLasso memastikan modal tidak dialokasikan ke aset yang hanya terlihat menguntungkan secara statistik sesaat (spurious divergence), melainkan tetap pada struktur pasar yang kokoh.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Contoh Sederhana Network Markowitz (NW)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Tujuan: Mengurangi risiko sistemik dengan menghukum koin 'pusat' (hub).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Skenario Jaringan (MST):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Bayangkan 3 Koin: BTC, ETH, dan ADA.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BTC terhubung ke ETH dan ADA (BTC adalah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Hub utama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).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Centrality (EC): BTC=0.8, ETH=0.4, ADA=0.4.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Perbandingan Alokasi: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Classical Markowitz: Melirik BTC karena paling stabil, bobot bisa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70%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Network Markowitz (γ=1.0): Mendeteksi BTC sebagai titik bahaya penularan. Bobot BTC dipangkas menjadi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45%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3. Mekanisme 'Hukuman' (Penalty):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Risiko Baru = Risiko Harga + (γ × Centrality)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Hasil Akhir: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Modal dialihkan ke ETH/ADA yang lebih 'pinggiran' (peripheral). Portofolio tidak hancur total jika 'Hub' (BTC) mengalami crash ekstrem.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Detail Kalkulasi Penentuan Bobot NW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Bagaimana 'Penalti' mengubah angka bobot secara konkret?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Data Aset (Dummy):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A (Hub): Volatilitas = 20%, Centrality (EC) = 0.8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B (Peripheral): Volatilitas = 30%, Centrality (EC) = 0.2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Parameter Gamma (γ) = 0.5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Perhitungan Risiko Penyesuaian (Adjusted Risk):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Risiko A = 0.20 + (0.5 × 0.8) =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0.60 (Meningkat)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Risiko B = 0.30 + (0.5 × 0.2) =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0.40 (Relatif Stabil)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3. Pergeseran Bobot (Weight Shift):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Bobot A (Kuno):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60% → 40% (NW)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Bobot B (Kuno):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40% → 60% (NW)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Inti Logika NW: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Aset A dihukum bukan karena harganya tidak stabil, tapi karena ia adalah 'pusat kemacetan' risiko. Model secara matematis memindahkan modal ke Aset B untuk proteksi sistemik.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Rumus &amp; Penjabaran Bobot (60% vs 40%)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Menggunakan Metode Alokasi Volatilitas Terbalik (Inverse Volatility):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003366"/>
                </a:solidFill>
              </a:rPr>
              <a:t>Rumus: Bobot (w) = (1 / Risiko) / Total (1 / Risiko)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2C3E50"/>
                </a:solidFill>
              </a:rPr>
              <a:t>1. Perhitungan Skenario Klasik (Tanpa Penalti):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A (Risiko 0.20) → 1 / 0.20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5.00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(Daya Tarik)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B (Risiko 0.30) → 1 / 0.30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3.33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(Daya Tarik)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Bobot A = 5.00 / (5.00 + 3.33) = 5.00 / 8.33 ≈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60%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2C3E50"/>
                </a:solidFill>
              </a:rPr>
              <a:t>2. Perhitungan Skenario Network (Gamma 0.5):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A (Risiko 0.60) → 1 / 0.60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1.67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(Daya Tarik Turun)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B (Risiko 0.40) → 1 / 0.40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2.50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(Daya Tarik Naik)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Bobot A = 1.67 / (1.67 + 2.50) = 1.67 / 4.17 ≈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40%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Kesimpulan Matematis: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Model ini secara adil memberikan porsi lebih besar pada aset yang memiliki skor gabungan 'Risiko + Penalti' yang paling kecil.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NW vs CM - Hubungan dengan Korelasi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Pertanyaan Penting: Apakah NW mengesampingkan korelasi?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Jawaban: TIDAK. NW justru menggunakan korelasi secara lebih cerdas.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Perbandingan Alur Kerja: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❑ Classical Markowitz (CM):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Korelasi Mentah → Matriks Kovarians → Bobot Portofolio.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❑ Network Markowitz (NW):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1. Korelasi Mentah → </a:t>
            </a:r>
            <a:pPr indent="0" marL="0">
              <a:buNone/>
            </a:pPr>
            <a:r>
              <a:rPr lang="en-US" sz="1800" b="1" dirty="0">
                <a:solidFill>
                  <a:srgbClr val="8E44AD"/>
                </a:solidFill>
              </a:rPr>
              <a:t>Saring Noise (RMT)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(Membersihkan korelasi palsu).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2. Korelasi Bersih → </a:t>
            </a:r>
            <a:pPr indent="0" marL="0">
              <a:buNone/>
            </a:pPr>
            <a:r>
              <a:rPr lang="en-US" sz="1800" b="1" dirty="0">
                <a:solidFill>
                  <a:srgbClr val="8E44AD"/>
                </a:solidFill>
              </a:rPr>
              <a:t>Bangun MST (Network)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(Melihat peta hubungan antar koin).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3. Struktur Network → </a:t>
            </a:r>
            <a:pPr indent="0" marL="0">
              <a:buNone/>
            </a:pPr>
            <a:r>
              <a:rPr lang="en-US" sz="1800" b="1" dirty="0">
                <a:solidFill>
                  <a:srgbClr val="8E44AD"/>
                </a:solidFill>
              </a:rPr>
              <a:t>Penalty Centrality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(Menimbang risiko penularan).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4. Gabungan → Optimasi Markowitz Akhir.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C3E50"/>
                </a:solidFill>
              </a:rPr>
              <a:t>Kesimpulan:</a:t>
            </a:r>
            <a:endParaRPr lang="en-US" sz="1800" dirty="0"/>
          </a:p>
          <a:p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NW tidak membuang korelasi; ia 'mengolah' korelasi menjadi peta jaringan untuk mendeteksi risiko sistemik yang tidak terlihat oleh CM biasa.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Contoh Detail Filter RMT (Pembersihan Noise)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Analogi: Menghilangkan suara 'kresek' radio agar lagu terdengar jernih.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Skenario Korelasi Mentah (Dirty Matrix):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BTC vs ETH   : 0.75 (Ikatan Fundamental)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BTC vs DOGE  : 0.12 (Kebetulan Spekulatif/Noise)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ETH vs PEPE  : 0.08 (Kebetulan Spekulatif/Noise)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Uji Batas RMT (Marchenko-Pastur Distribution):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Rumus RMT menghitung 'Ambang Batas Keacakan' (Threshold).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Misalkan hasil hitung batas noise (λ_max) =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0.15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3. Proses Pembersihan (Filtering):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0.75 &gt; 0.15  →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DIJAGA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(Ini adalah Sinyal Pasar).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0.12 &lt; 0.15  →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DIBUANG (JADI 0)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(Ini adalah Noise).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0.08 &lt; 0.15  →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DIBUANG (JADI 0)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(Ini adalah Noise).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Kesimpulan Akhir: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Dengan RMT, model hanya akan membangun portofolio berdasarkan 'Gema Fundamental' aset, bukan berdasarkan 'Kebetulan Statistik' yang sering menjebak investor di pasar kripto.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Cara Menghitung Batas Noise (λ_max)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Batas ini ditentukan menggunakan Distribusi Marchenko-Pastur: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Rumus: λ_max = σ² × (1 + √(1/Q))²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Komponen Rasio Q: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• Q = T / N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T = Jumlah hari (Observasi)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N = Jumlah koin (Aset)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Contoh Simulasi: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Kita punya data 10 koin (N=10) selama 1000 hari (T=1000).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1. Hitung Q: 1000 / 10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100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2. Hitung Akar: √(1/100)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0.1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3. Hitung λ_max: (1 + 0.1)² = 1.1² =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1.21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Penerapan: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Setiap Nilai Eigen dari matriks korelasi yang nilainya di bawah 1.21 akan dianggap sebagai noise dan dibersihkan dari model.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Contoh Membangun MST (Network Mapping)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Bagaimana korelasi berubah menjadi peta jaringan?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Konversi Korelasi ke Jarak (Metric Distance):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Semakin tinggi korelasi → Semakin dekat jaraknya (riferensi: Mantegna, 1999).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BTC - ETH (Korelasi 0.90) → Jarak: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0.45 (Sangat Dekat)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BTC - LTC (Korelasi 0.85) → Jarak: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0.55 (Dekat)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ETH - XRP (Korelasi 0.40) → Jarak: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1.10 (Jauh)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Menghubungkan Titik (Kruskal's Algorithm):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Langkah 1: Hubungkan BTC &amp; ETH (Jalur Terkuat).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Langkah 2: Hubungkan BTC &amp; LTC (Jalur Kedua).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Langkah 3: Hubungkan ETH &amp; XRP (Jalur Ketiga).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Ciri Khas MST: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Hanya menyisakan (N-1) koneksi terkuat dan dilarang membentuk loop. Di sini terlihat BTC menjadi 'Hub' karena ia yang menghubungkan banyak koin.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Rumus Konversi Korelasi ke Jarak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Untuk membangun jaringan, korelasi harus diubah menjadi skor jarak (Metric Space).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Rumus (Mantegna, 1999): d_ij = √(2(1 - ρ_ij))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Simulasi Tabel Jarak: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Korelasi 1.00 (Identik) → d = √(2(1-1)) = </a:t>
            </a:r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0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Korelasi 0.50 (Kuat) → d = √(2(1-0.5)) = √(1) = </a:t>
            </a:r>
            <a:pPr indent="0" marL="0">
              <a:buNone/>
            </a:pPr>
            <a:r>
              <a:rPr lang="en-US" sz="1800" b="1" dirty="0">
                <a:solidFill>
                  <a:srgbClr val="2C3E50"/>
                </a:solidFill>
              </a:rPr>
              <a:t>1.00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Korelasi 0.00 (Acak) → d = √(2(1-0)) = √(2) ≈ </a:t>
            </a:r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1.41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Korelasi -1.00 (Berlawanan) → d = √(2(1-(-1))) = √(4) = </a:t>
            </a:r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2.00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8E44AD"/>
                </a:solidFill>
              </a:rPr>
              <a:t>Logika Utama: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1. Hubungan searah → Jarak Pendek (Aset sering bergerak bersama).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2. Hubungan berlawanan → Jarak Jauh (Aset saling menjauh).</a:t>
            </a:r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MST hanya mengambil jalur-jalur dengan Jarak (d) paling kecil agar efisien.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Apakah Jaringan Selalu Berbentuk Star?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Jawaban: TIDAK. Topologi jaringan bersifat dinamis mengikuti rezim pasar.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1. Tipe Star (Sentralistik):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Muncul saat pasar panik atau crash.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Semua aset mengekor pada satu koin dominan (Hub).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Penalti NW akan sangat berat pada koin pusat tersebut.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2. Tipe Terdistribusi (Cluster):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Muncul saat pasar tenang atau aset memiliki 'narasi' berbeda.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Hubungan terbagi ke beberapa kelompok (misal: DeFi Group, Stablecoin Group).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Penalti NW akan lebih menyebar dan diversifikasi lebih alami.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8E44AD"/>
                </a:solidFill>
              </a:rPr>
              <a:t>Dinamika dalam NW:</a:t>
            </a:r>
            <a:endParaRPr lang="en-US" sz="1800" dirty="0"/>
          </a:p>
          <a:p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Kekuatan Network Markowitz adalah kemampuannya mendeteksi transisi bentuk ini secara real-time melalui data historis.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Berapa Banyak Perhitungan Korelasi?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Untuk membangun satu matriks utuh, setiap aset harus dipasangkan satu sama lain.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Rumus Kombinasi: C(N,2) = (N × (N - 1)) / 2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Simulasi untuk 10 Aset (N=10):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Jumlah Pasangan Unik = (10 × 9) / 2 =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45 Perhitungan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Detail Penjabaran: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Koin ke-1 (BTC) berpasangan dengan 9 koin lainnya.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Koin ke-2 (ETH) berpasangan dengan 8 koin sisa.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Koin ke-3 (XRP) berpasangan dengan 7 koin sisa.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... Seterusnya.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Total: 9 + 8 + 7 + 6 + 5 + 4 + 3 + 2 + 1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45</a:t>
            </a:r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Fakta Matriks 10x10: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Meskipun ada 100 kotak di matriks, komputer hanya perlu menghitung 45 angka unik karena korelasi bersifat cermin (A-B sama dengan B-A) dan tengahnya selalu 1 (A-A).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Alur Transformasi Matriks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Proses ini memastikan data statistik mentah bisa divisualisasikan menjadi peta risiko.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Langkah 1: Matriks Korelasi (Pearson)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Berisi angka -1 s/d 1. Menunjukkan 'Kemiripan' gerak aset.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Langkah 2: Matriks Jarak (Metric Distance)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Angka korelasi diubah menjadi angka 0 s/d 2 (Jarak). Semakin mirip aset, semakin 'nempel' (jarak mendekati 0).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Langkah 3: Bangun Jaringan (MST Algorithm)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Komputer membaca Matriks Jarak sebagai peta jalan tol, lalu memilih rute terpendek untuk menghubungkan seluruh aset.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Hasil Akhir:</a:t>
            </a:r>
            <a:endParaRPr lang="en-US" sz="1800" dirty="0"/>
          </a:p>
          <a:p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Jaringan (Network) yang siap digunakan untuk menghitung skor penalti penularan risiko sistemik.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Mekanisme Penalty Centrality (Risiko Penularan)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Kenapa koin yang 'populer' di jaringan justru diberi hukuman (penalti)?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Analogi Bandara Transit (Hub):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Jika Bandara transit utama (misal: Singapura) terkena badai, maka seluruh penerbangan di Asia Tenggara akan ikut kacau. Singapura adalah 'Hub' dengan Centrality tinggi.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Skenario di Kripto (Dominasi BTC):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BTC terhubung ke semua koin lain dalam MST.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Skor Centrality BTC = </a:t>
            </a:r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1.00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(Maksimal).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Cara Model NW Menghitung Risiko: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Risiko Baru = Risiko Harga + (γ × </a:t>
            </a:r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1.00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)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8E44AD"/>
                </a:solidFill>
              </a:rPr>
              <a:t>Tujuan Penalti:</a:t>
            </a:r>
            <a:endParaRPr lang="en-US" sz="1800" dirty="0"/>
          </a:p>
          <a:p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Agar portofolio tidak menaruh terlalu banyak modal pada koin yang bisa memicu 'Efek Domino'. Jika BTC rontok, penalti memastikan kita sudah punya cadangan di koin-koin 'pinggiran' (peripheral) yang lebih mandiri.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Cara Menghitung Centrality (Degree Centrality)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Metode Degree Centrality mengukur seberapa banyak 'tangan' yang dimiliki sebuah aset untuk memegang aset lain.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Rumus: Centrality = Jumlah Koneksi / (N - 1)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Simulasi untuk 5 Aset (BTC, ETH, XRP, LTC, USDT):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Utama (N) = 5. Pembagi (N-1) = 4.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1. Aset BTC (Terkoneksi ke ETH, XRP, LTC):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3 Koneksi / 4 =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0.75 (Centrality Tinggi)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2. Aset LTC (Terkoneksi ke BTC &amp; USDT):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2 Koneksi / 4 = </a:t>
            </a:r>
            <a:pPr indent="0" marL="0">
              <a:buNone/>
            </a:pPr>
            <a:r>
              <a:rPr lang="en-US" sz="1600" b="1" dirty="0">
                <a:solidFill>
                  <a:srgbClr val="F39C12"/>
                </a:solidFill>
              </a:rPr>
              <a:t>0.50 (Centrality Sedang)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3. Aset ETH, XRP, USDT (Hanya 1 Koneksi):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1 Koneksi / 4 =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0.25 (Centrality Rendah)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Dampak Penalti NW: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Karena BTC memiliki skor 0.75, ia akan menerima penalti 3x lebih besar daripada ETH (0.25). Ini menjaga portofolio tetap terdiversifikasi dari pusat jaringan.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  <p:sp>
        <p:nvSpPr>
          <p:cNvPr id="5" name="Text 3">
            <a:hlinkClick r:id="rId2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Contoh Sederhana Rolling Window Grid Search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Tujuan: Memilih 'Hukuman' (Gamma) terbaik secara otomatis untuk kondisi pasar saat ini.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Siapkan Kandidat (The Grid):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Komputer mencoba 3 nilai: γ=0.0 (Tanpa Penalti), γ=0.5 (Sedang), γ=1.0 (Keras).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Simulasi Masa Lalu (Lookback Window):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Maju ke belakang 30 hari, lalu hitung performa jika kita memakai nilai tersebut: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Jika pakai γ=0.0 → Sharpe Ratio: 0.85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   • Jika pakai γ=0.5 → Sharpe Ratio: 1.10 (TERBAIK)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Jika pakai γ=1.0 → Sharpe Ratio: 0.95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3. Penentuan Pemenang (The Best Gamma):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Karena γ=0.5 menghasilkan efisiensi terbaik di 30 hari terakhir, ia terpilih sebagai pemenang.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4. Penerapan (Actual Trade):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Gunakan γ=0.5 untuk menghitung bobot portofolio asli di minggu depan.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Kesimpulan Adaptif: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Minggu depan, proses ini diulang kembali. Jika pasar berubah kacau, mungkin γ=1.0 yang akan menang. Inilah cara model menyesuaikan diri tanpa campur tangan manusia.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Justifikasi Pemilihan Rolling Window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Kenapa rentang 30 s/d 60 hari dipilih sebagai 'Sweet Spot'?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1. Alasan Teknis (Kenapa Tidak &lt; 30 Hari?):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Ill-Conditioned Matrix: Data terlalu sedikit (T ≈ N) membuat kalkulasi bobot tidak stabil dan acak.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RMT Failure: Batas noise menjadi sangat lebar, filter RMT akan menghapus hampir semua sinyal pasar.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High Turnover: Bobot berubah terlalu liar, keuntungan habis dimakan biaya transaksi (fees).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F39C12"/>
                </a:solidFill>
              </a:rPr>
              <a:t>2. Alasan Strategis (Kenapa Tidak &gt; 120 Hari?):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Information Lag: Model terlambat mendeteksi crash atau perubahan rezim karena terbebani data setahun lalu.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Regime Blurring: Mencampur data Bull &amp; Bear Market dalam satu hitungan mengaburkan risiko asli saat ini.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3. Solusi 30-60 Hari (Optimal):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Responsif: Cepat menangkap narasi pasar baru (misal: siklus Altcoin).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Stabil: Cukup data untuk menghasilkan peta jaringan MST yang jujur dan korelasi yang valid.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Kesimpulan: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Window 30-60 hari adalah keseimbangan antara akurasi statistik dan kecepatan respons pasar.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Dua Tipe Pendekatan Grid Search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Dua Objektif Optimasi (Return vs Risk):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1. Network Markowitz dengan Target Return (NW - Return Grid Search):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Memaksimalkan capaian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imbal hasil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portofolio.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Lebih Agresif untuk mengeksploitasi reli pada pasar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Bullish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2. Network Markowitz dengan Target Risiko (NW - Risk Grid Search):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Menekan parameter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risiko total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hingga minimal.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Lebih Defensif untuk meredam fluktuasi saat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Crypto Winter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Penanganan Data Kosong (Missing Values)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Pertanyaan: </a:t>
            </a:r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"Beberapa koin seperti Binance/EOS belum rilis di awal 2017 sehingga datanya kosong. Bukankah backward-fill memalsukan harga dan merusak matriks?"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Jawaban (Kenapa RMT sangat Krusial):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1. Praktik pengisian data diam (</a:t>
            </a:r>
            <a:pPr indent="0" marL="0">
              <a:buNone/>
            </a:pPr>
            <a:r>
              <a:rPr lang="en-US" sz="1800" b="1" i="1" dirty="0">
                <a:solidFill>
                  <a:srgbClr val="333333"/>
                </a:solidFill>
              </a:rPr>
              <a:t>backward fill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) memang menciptakan rentetan nilai harga yang statis.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2. Namun, kehebatan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Random Matrix Theory (RMT)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diuji di sini! Karena data yang datar sama sekali tidak punya korelasi nyata.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3. RMT otomatis akan mendeteksi korelasi buatan tersebut sebagai probabilitas </a:t>
            </a:r>
            <a:pPr indent="0" marL="0">
              <a:buNone/>
            </a:pPr>
            <a:r>
              <a:rPr lang="en-US" sz="1800" b="1" i="1" dirty="0">
                <a:solidFill>
                  <a:srgbClr val="333333"/>
                </a:solidFill>
              </a:rPr>
              <a:t>Noise Acak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, lalu membuangnya menjadi 0.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4. Hasilnya, matriks korelasi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terselamatkan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dan tidak tercemar oleh cacat kelengkapan data.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Mengapa Menyertakan Tether (USDT)? (1/2)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Pertanyaan: </a:t>
            </a:r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"Tether (USDT) itu stablecoin yang nilainya selalu fix ke 1 USD. Apakah tidak berbuat curang?"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Jawaban (Dinamika Portofolio Cerdas):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Model ini mensimulasikan perilaku </a:t>
            </a:r>
            <a:pPr indent="0" marL="0">
              <a:buNone/>
            </a:pPr>
            <a:r>
              <a:rPr lang="en-US" sz="1800" b="1" i="1" dirty="0">
                <a:solidFill>
                  <a:srgbClr val="333333"/>
                </a:solidFill>
              </a:rPr>
              <a:t>Robo-Advisory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institusional.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Ketika pasar anjlok ekstrem, investor akan melarikan senjatanya ke posisi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tunai (USDT)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sebagai evakuasi risiko.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Mengapa Menyertakan Tether (USDT)? (2/2)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3. Algoritma jaringan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Network Markowitz GS (Grid Search)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dilatih secara matematis; jika mendeteksi korelasi ancaman kolaps merambat ke semua altcoin, ia akan melempar alokasi modalnya menuju node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USDT (Tether)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sebagai langkah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evakuasi otomatis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(Shock-Absorber).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4. Hal ini yang membuat performa Risk-GS (Grid Search) sangat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tangguh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dari serangan Crypto Winter, suatu kapabilitas pertahanan yang tidak dipahami oleh model ortodoks murni Markowitz.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Bukti Empiris Non-Stationarity Pasar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Masalah: </a:t>
            </a:r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Kenapa harus menggunakan model Adaptif (Dynamic Gamma)?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Bukti dari Grid Search: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Data menunjukkan nilai Gamma (γ) optimal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terus bergeser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setiap periode rebalancing.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Penggunaan γ statis tidak cukup untuk menangkap perubahan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struktur korelasi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yang sangat cepat di pasar kripto.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Ini membenarkan bahwa pasar kripto membutuhkan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kalibrasi otomatis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secara temporal.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Jaringan sebagai 'Shock-Absorber'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Konsep Teoritis: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Eigenvector Centrality mengidentifikasi koin yang menjadi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hub risiko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Penalti Gamma memaksa portofolio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menjauhi aset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yang terlalu dominan secara sistemik saat volatilitas tinggi.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Hasil pada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Tabel 5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membuktikan bahwa saat crash, distribusi kerugian ekor model NW (Network Markowitz) jauh lebih terjaga.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Kesimpulan: Topologi jaringan memberikan sinyal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diversifikasi akurat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daripada sekadar variansi harga.</a:t>
            </a:r>
            <a:endParaRPr lang="en-US" sz="180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Simulasi Kalkulasi Cumulative P&amp;L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Bagaimana modal berkembang melalui bunga majemuk (compounding)?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Konsep Dasar: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Cumulative P&amp;L mengukur total keuntungan atau kerugian bersih dari awal investasi.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Simulasi 3 Hari (Modal Awal: Rp 10.000.000):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Hari 1: Return +2% </a:t>
            </a:r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→ Untung Rp 200.000 (Modal: 10,2jt)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Hari 2: Return -1% </a:t>
            </a:r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→ Rugi Rp 102.000 (Modal: 10,098jt)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Hari 3: Return +5% </a:t>
            </a:r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→ Untung Rp 504.900 (Modal: 10,6029jt)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3. Rumus Akumulasi (Compounding Index):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Cum_Return = (1 + r1) × (1 + r2) × ... × (1 + rn) - 1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Hasil Simulasi: (1.02 × 0.99 × 1.05) - 1 ≈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6.03%</a:t>
            </a:r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Kelebihan Metrik Ini: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Memberikan gambaran riil 'kekuatan bertahan' sebuah strategi. Meskipun ada hari-hari rugi (drawdown), akumulasi positif menunjukkan resiliensi portofolio.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Simulasi Kalkulasi Value at Risk (VaR)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Berapa potensi kerugian maksimal dalam kondisi pasar normal?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Konsep Dasar: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Value at Risk (VaR) mengukur ambang batas kerugian maksimal pada tingkat kepercayaan tertentu (Confidence Level 95%) dalam periode harian.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Metode Simulasi Historis (Paling Sederhana):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Mengurutkan 100 hari return dari terburuk ke terbaik, lalu mengambil nilai persentil ke-5.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3. Simulasi Angka (Modal: Rp 10.000.000):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Return terburuk urutan ke-5 (P5): -8% (-0.08)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Perhitungan VaR (95%): Rp 10.000.000 × 0.08 =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Rp 800.000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4. Interpretasi Hasil: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Kita yakin 95% bahwa kerugian harian tidak akan melebihi Rp 800.000. Namun, ada 5% risiko (ekstrem) di masa depan di mana kerugian bisa lebih besar dari angka tersebut.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Simulasi Kalkulasi Sharpe Ratio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Bagaimana mengukur kualitas imbal hasil per unit risiko?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Konsep Dasar: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Sharpe Ratio mengukur kelebihan imbal hasil (Excess Return) dibandingkan aset aman (Risk-Free) per satu satuan risiko (Volatilitas).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Rumus Sederhana: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SR = (Return Portofolio - Risk-Free Rate) / Standar Deviasi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3. Simulasi Angka (Dummy):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Return Portofolio (Rp): 15% (0.15)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   • Suku Bunga Bebas Risiko (Rf): 2% (0.02) </a:t>
            </a:r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</a:rPr>
              <a:t> (Basis: USDT Lending Rate)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Volatilitas Portofolio (σ): 10% (0.10)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4. Kalkulasi: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SR = (0.15 - 0.02) / 0.10 = 0.13 / 0.10 =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1.30</a:t>
            </a:r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Interpretasi: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Nilai 1.30 berarti untuk setiap 1% risiko yang diambil, portofolio memberikan imbal hasil tambahan sebesar 1.30%. Semakin tinggi nilai SR, semakin efisien portofolio tersebut.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Simulasi Kalkulasi Rachev Ratio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Konsep Dasar: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Rachev Ratio mengukur rasio potensi 'hadiah ekstrem' (Top 5% average) terhadap 'risiko ekstrem' (Bottom 5% average loss).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2. Skenario A: Normal/Bullish (Menguntungkan):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Avg. Profit (Top 5%): +12% | Avg. Loss (Bottom 5%): -8%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Kalkulasi: 12% / 8% =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1.50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3. Skenario B: Extreme Bear Market (Keduanya Rugi):</a:t>
            </a:r>
            <a:endParaRPr lang="en-US" sz="1600" dirty="0"/>
          </a:p>
          <a:p>
            <a:pPr indent="0" marL="0">
              <a:buNone/>
            </a:pPr>
            <a:r>
              <a:rPr lang="en-US" sz="1200" i="1" dirty="0">
                <a:solidFill>
                  <a:srgbClr val="333333"/>
                </a:solidFill>
              </a:rPr>
              <a:t>   • Jika kondisi pasar hancur total, bahkan return terbaik pun bisa negatif.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Avg. Return (Top 5%):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-2% (Rugi)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| Avg. Loss (Bottom 5%):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-12% (Rugi)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Kalkulasi: -2% / 12% =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-0.16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Interpretasi: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Nilai negatif (Skenario B) menunjukkan strategi gagal total memberikan profit. Sebaliknya, nilai &gt; 1 (Skenario A) menunjukkan portofolio memiliki potensi pemulihan yang jauh lebih besar daripada risiko kejatuhannya.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46888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03366"/>
                </a:solidFill>
              </a:rPr>
              <a:t>Terima Kasih</a:t>
            </a:r>
            <a:endParaRPr lang="en-US" sz="4000" dirty="0"/>
          </a:p>
        </p:txBody>
      </p:sp>
      <p:sp>
        <p:nvSpPr>
          <p:cNvPr id="3" name="Text 1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61</Slides>
  <Notes>61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61</vt:i4>
      </vt:variant>
    </vt:vector>
  </HeadingPairs>
  <TitlesOfParts>
    <vt:vector size="6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2026-04-11T19:57:12Z</dcterms:created>
  <dcterms:modified xsi:type="dcterms:W3CDTF">2026-04-11T19:57:12Z</dcterms:modified>
</cp:coreProperties>
</file>