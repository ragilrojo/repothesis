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</p:sldIdLst>
  <p:notesMasterIdLst>
    <p:notesMasterId r:id="rId6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notesMaster" Target="notesMasters/notesMaster1.xml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8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1" Type="http://schemas.openxmlformats.org/officeDocument/2006/relationships/slide" Target="slide15.xml"/><Relationship Id="rId12" Type="http://schemas.openxmlformats.org/officeDocument/2006/relationships/slide" Target="slide16.xml"/><Relationship Id="rId13" Type="http://schemas.openxmlformats.org/officeDocument/2006/relationships/slide" Target="slide17.xml"/><Relationship Id="rId14" Type="http://schemas.openxmlformats.org/officeDocument/2006/relationships/slide" Target="slide3.xml"/><Relationship Id="rId15" Type="http://schemas.openxmlformats.org/officeDocument/2006/relationships/slide" Target="slide60.xml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32.xml"/><Relationship Id="rId3" Type="http://schemas.openxmlformats.org/officeDocument/2006/relationships/slide" Target="slide33.xml"/><Relationship Id="rId4" Type="http://schemas.openxmlformats.org/officeDocument/2006/relationships/slide" Target="slide35.xml"/><Relationship Id="rId5" Type="http://schemas.openxmlformats.org/officeDocument/2006/relationships/slide" Target="slide55.xml"/><Relationship Id="rId6" Type="http://schemas.openxmlformats.org/officeDocument/2006/relationships/slide" Target="slide17.xml"/><Relationship Id="rId7" Type="http://schemas.openxmlformats.org/officeDocument/2006/relationships/slide" Target="slide24.xml"/><Relationship Id="rId8" Type="http://schemas.openxmlformats.org/officeDocument/2006/relationships/slide" Target="slide26.xml"/><Relationship Id="rId9" Type="http://schemas.openxmlformats.org/officeDocument/2006/relationships/slide" Target="slide27.xml"/><Relationship Id="rId10" Type="http://schemas.openxmlformats.org/officeDocument/2006/relationships/slide" Target="slide37.xml"/><Relationship Id="rId11" Type="http://schemas.openxmlformats.org/officeDocument/2006/relationships/slide" Target="slide48.xml"/><Relationship Id="rId12" Type="http://schemas.openxmlformats.org/officeDocument/2006/relationships/slide" Target="slide49.xml"/><Relationship Id="rId13" Type="http://schemas.openxmlformats.org/officeDocument/2006/relationships/slide" Target="slide56.xml"/><Relationship Id="rId14" Type="http://schemas.openxmlformats.org/officeDocument/2006/relationships/slide" Target="slide57.xml"/><Relationship Id="rId15" Type="http://schemas.openxmlformats.org/officeDocument/2006/relationships/slide" Target="slide58.xml"/><Relationship Id="rId16" Type="http://schemas.openxmlformats.org/officeDocument/2006/relationships/slide" Target="slide59.xml"/><Relationship Id="rId17" Type="http://schemas.openxmlformats.org/officeDocument/2006/relationships/slide" Target="slide2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image" Target="../media/image-8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" Target="slide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5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35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2-Stage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(Main Sections)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I. PENDAHULUAN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Latar Belakang &amp; Motivasi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"Noise" di Kripto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Landasan Teori &amp; Literatur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Penelitian Terdahulu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Kerangka Pemikiran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Dataset Penelitian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II. STRATEGI PORTOFOLIO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Equally Weighted (EW)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Classical Markowitz (CM)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Graphical Lasso (GM)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(Statis)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(2-Stage GS)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III. EVALUASI PERFORMA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P&amp;L, Sharpe, VaR, Rachev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Analisis per Fase Pasar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E67E22"/>
                </a:solidFill>
              </a:rPr>
              <a:t>Lanjutan Daftar Isi: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➤ </a:t>
            </a:r>
            <a:pPr indent="0" marL="0">
              <a:buNone/>
            </a:pPr>
            <a:r>
              <a:rPr lang="en-US" sz="1600" b="1" u="sng" dirty="0">
                <a:solidFill>
                  <a:srgbClr val="D35400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LAMPIRAN TEKNIS (APPENDIX)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➤ </a:t>
            </a:r>
            <a:pPr indent="0" marL="0">
              <a:buNone/>
            </a:pPr>
            <a:r>
              <a:rPr lang="en-US" sz="1600" b="1" u="sng" dirty="0">
                <a:solidFill>
                  <a:srgbClr val="003366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END (TERIMA KASIH)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(IV. Lampiran Teknis)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IV. LAMPIRAN TEKNIS (APPENDIX)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EW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CM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GLasso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NW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Cumulative P&amp;L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Matrix Theory (RMT)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Minimum Spanning Tree (MST)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Penalty &amp; Centrality Logic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Parameter Gamma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60/40 Weight Shift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2-Stage Grid Search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Cumulative P&amp;L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Value at Risk (VaR)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Sharpe Ratio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Rachev Ratio</a:t>
            </a:r>
            <a:endParaRPr lang="en-US" sz="1600" dirty="0"/>
          </a:p>
        </p:txBody>
      </p:sp>
      <p:sp>
        <p:nvSpPr>
          <p:cNvPr id="4" name="Text 2">
            <a:hlinkClick r:id="rId17" tooltip="" action="ppaction://hlinksldjump"/>
          </p:cNvPr>
          <p:cNvSpPr/>
          <p:nvPr/>
        </p:nvSpPr>
        <p:spPr>
          <a:xfrm>
            <a:off x="7315200" y="4846320"/>
            <a:ext cx="1371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7F8C8D"/>
                </a:solidFill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⬅ Kembali ke TOC 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  <p:sp>
        <p:nvSpPr>
          <p:cNvPr id="5" name="Text 3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  <p:sp>
        <p:nvSpPr>
          <p:cNvPr id="4" name="Text 1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229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66344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366"/>
                </a:solidFill>
              </a:rPr>
              <a:t>Statistik Dataset: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14 Sept 2017 - 17 Okt 2019 </a:t>
            </a:r>
            <a:pPr indent="0" marL="0">
              <a:buNone/>
            </a:pPr>
            <a:r>
              <a:rPr lang="en-US" sz="1200" b="1" dirty="0">
                <a:solidFill>
                  <a:srgbClr val="003366"/>
                </a:solidFill>
              </a:rPr>
              <a:t>| Total: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764 observasi harian</a:t>
            </a:r>
            <a:endParaRPr lang="en-US" sz="1200" dirty="0"/>
          </a:p>
        </p:txBody>
      </p:sp>
      <p:sp>
        <p:nvSpPr>
          <p:cNvPr id="5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(Adaptive Tuned):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2-Stage GS (VAR, Sharpe, Rachev)</a:t>
            </a:r>
            <a:endParaRPr lang="en-US" sz="2200" dirty="0"/>
          </a:p>
        </p:txBody>
      </p:sp>
      <p:sp>
        <p:nvSpPr>
          <p:cNvPr id="4" name="Text 2">
            <a:hlinkClick r:id="rId6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Adaptive Tuned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2-Stage Grid Search (Coarse-to-Fine):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Tahap 1 (Coarse): Mencari range optimal (W, γ) secara makro.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Tahap 2 (Fine): Zoom-in pencarian di sekitar titik terbaik Stage 1.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Tuning spesifik untuk 3 Target: VAR, SHARPE, dan RACHEV.</a:t>
            </a: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❑ Menjamin parameter terbaik tanpa beban komputasi brute-force penuh.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Objektif &amp; Resiliensi: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Multi-Metric: Mencakup aspek risiko (VAR), efisiensi (Sharpe), dan ekor distribusi (Rachev).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Adaptabilitas: Menyesuaikan Window Size (stabilitas) &amp; Gamma (penalti jaringan).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Konsistensi: Validasi melalui Fine-Search memastikan solusi bukan noise lokal.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7E22"/>
                </a:solidFill>
              </a:rPr>
              <a:t>❑ Hasil: Strategi yang lebih tangguh di berbagai fase pasar (Bearish, Recovery, Stable).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Hasil Comparison &amp; Grid Search Lampiran]</a:t>
            </a:r>
            <a:endParaRPr lang="en-US" sz="2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 (Multi-Metric)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</a:rPr>
              <a:t>1. Cumulative Profits &amp; Losses (P&amp;L):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Mengukur total keuntungan/kerugian akumulatif vs benchmark.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</a:rPr>
              <a:t>2. Value at Risk (VaR 95%):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Fokus optimasi pada resiliensi risiko/batas bawah.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27AE60"/>
                </a:solidFill>
              </a:rPr>
              <a:t>3. Sharpe Ratio (SR):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Fokus optimasi pada efisiensi imbal hasil per unit risiko.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8E44AD"/>
                </a:solidFill>
              </a:rPr>
              <a:t>4. Rachev Ratio (RR):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Fokus optimasi pada perbandingan ekor distribusi (Fat-Tails).</a:t>
            </a:r>
            <a:endParaRPr lang="en-US" sz="1700" dirty="0"/>
          </a:p>
          <a:p>
            <a:pPr indent="0" marL="0">
              <a:buNone/>
            </a:pPr>
            <a:r>
              <a:rPr lang="en-US" sz="1400" b="1" dirty="0">
                <a:solidFill>
                  <a:srgbClr val="D35400"/>
                </a:solidFill>
              </a:rPr>
              <a:t>Justifikasi Multi-Objective:</a:t>
            </a:r>
            <a:endParaRPr lang="en-US" sz="1700" dirty="0"/>
          </a:p>
          <a:p>
            <a:pPr indent="0" marL="0">
              <a:buNone/>
            </a:pPr>
            <a:r>
              <a:rPr lang="en-US" sz="1400" i="1" dirty="0">
                <a:solidFill>
                  <a:srgbClr val="333333"/>
                </a:solidFill>
              </a:rPr>
              <a:t>Pasar kripto yang dinamis memerlukan tuning parameter yang berbeda tergantung apakah investor memprioritaskan keamanan (VaR), efisiensi (Sharpe), atau pemulihan (Rachev).</a:t>
            </a:r>
            <a:endParaRPr lang="en-US" sz="17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Evaluasi Berdasarkan Fase Pasar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Pengujian pada 3 Kondisi Berbeda: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 Fase Bearish (Jan 2018 - Mar 2019):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 Menguji ketahanan model saat pasar jatuh tajam.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2. Fase Recovery (Apr 2019 - Jun 2019):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 Menguji kecepatan adaptasi model saat tren berbalik positif.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Fase Stable (Jul 2019 - Okt 2019):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 Menguji konsistensi model dalam kondisi pasar mendatar.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D35400"/>
                </a:solidFill>
              </a:rPr>
              <a:t>Metodologi Panel Performance: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✔ Panel A (Sharpe): Membandingkan efisiensi antar fase.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✔ Panel B (Rachev): Membandingkan resiliensi ekor distribusi.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000000"/>
                </a:solidFill>
              </a:rPr>
              <a:t>✔ Kesimpulan: NW Tuned menunjukkan stabilitas lebih tinggi dibanding benchmark statis di setiap fase.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Justifikasi Parameter Gamma (γ)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Berdasarkan Teori Giudici et al. (2020):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Parameter γ berfungsi sebagai pengukur aversi tingkat risiko sistemik investor.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Batas Bawah (γ = 0):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Model kembali ke Markowitz Tradisional. Investor sepenuhnya mengabaikan posisi aset dalam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Batas Atas (γ = 1):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Investor memberikan bobot yang SETARA antara risiko individual (volatilitas) dan risiko sistemik (sentralitas).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Signifikansi Nilai 1: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✓ Batas "Aversi Risiko Tinggi" yang masuk akal secara konseptual.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✓ Risiko penularan (contagion) dianggap sama pentingnya dengan fluktuasi harga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Optimalitas: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Menjaga model agar tidak hanya mengejar return, tapi juga memastikan portofolio tidak hancur saat hub utama pasar kolaps.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Rolling Window Grid Search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Memilih 'Hukuman' (Gamma) terbaik secara otomatis untuk kondisi pasar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Siapkan Kandidat (The Grid):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Komputer mencoba 3 nilai: γ=0.0 (Tanpa Penalti), γ=0.5 (Sedang), γ=1.0 (Keras).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Masa Lalu (Lookback Window):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Maju ke belakang 30 hari, lalu hitung performa jika kita memakai nilai tersebut: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γ=0.0 → Sharpe Ratio: 0.85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   • Jika pakai γ=0.5 → Sharpe Ratio: 1.10 (TERBAIK)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γ=1.0 → Sharpe Ratio: 0.95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Penentuan Pemenang (The Best Gamma):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Karena γ=0.5 menghasilkan efisiensi terbaik di 30 hari terakhir, ia terpilih sebagai pemenang.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Penerapan (Actual Trade):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Gunakan γ=0.5 untuk menghitung bobot portofolio asli di minggu depan.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Adaptif: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Minggu depan, proses ini diulang kembali. Jika pasar berubah kacau, mungkin γ=1.0 yang akan menang. Inilah cara model menyesuaikan diri tanpa campur tangan manusia.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Justifikasi Pemilihan Rolling Window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Kenapa rentang 30 s/d 60 hari dipilih sebagai 'Sweet Spot'?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 Alasan Teknis (Kenapa Tidak &lt; 30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Ill-Conditioned Matrix: Data terlalu sedikit (T ≈ N) membuat kalkulasi bobot tidak stabil dan acak.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RMT Failure: Batas noise menjadi sangat lebar, filter RMT akan menghapus hampir semua sinyal pasar.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High Turnover: Bobot berubah terlalu liar, keuntungan habis dimakan biaya transaksi (fees).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2. Alasan Strategis (Kenapa Tidak &gt; 120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Information Lag: Model terlambat mendeteksi crash atau perubahan rezim karena terbebani data setahun lalu.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Regime Blurring: Mencampur data Bull &amp; Bear Market dalam satu hitungan mengaburkan risiko asli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3. Solusi 30-60 Hari (Optimal):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Responsif: Cepat menangkap narasi pasar baru (misal: siklus Altcoin).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Stabil: Cukup data untuk menghasilkan peta jaringan MST yang jujur dan korelasi yang valid.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Window 30-60 hari adalah keseimbangan antara akurasi statistik dan kecepatan respons pasar.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Cumulative P&amp;L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modal berkembang melalui bunga majemuk (compounding)?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Cumulative P&amp;L mengukur total keuntungan atau kerugian bersih dari awal investasi.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3 Hari (Modal Awal: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Return +2%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200.000 (Modal: 10,2jt)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2: Return -1%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Rugi Rp 102.000 (Modal: 10,098jt)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3: Return +5%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504.900 (Modal: 10,6029jt)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Akumulasi (Compounding Index):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Cum_Return = (1 + r1) × (1 + r2) × ... × (1 + rn) - 1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Hasil Simulasi: (1.02 × 0.99 × 1.05) - 1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6.03%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Kelebihan Metrik Ini: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Memberikan gambaran riil 'kekuatan bertahan' sebuah strategi. Meskipun ada hari-hari rugi (drawdown), akumulasi positif menunjukkan resiliensi portofolio.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Value at Risk (VaR)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Berapa potensi kerugian maksimal dalam kondisi pasar normal?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Value at Risk (VaR) mengukur ambang batas kerugian maksimal pada tingkat kepercayaan tertentu (Confidence Level 95%) dalam periode harian.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Metode Simulasi Historis (Paling Sederhana):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Mengurutkan 100 hari return dari terburuk ke terbaik, lalu mengambil nilai persentil ke-5.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(Modal: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terburuk urutan ke-5 (P5): -8% (-0.08)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Perhitungan VaR (95%): Rp 10.000.000 × 0.08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Rp 800.000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4. Interpretasi Hasil: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Kita yakin 95% bahwa kerugian harian tidak akan melebihi Rp 800.000. Namun, ada 5% risiko (ekstrem) di masa depan di mana kerugian bisa lebih besar dari angka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Sharpe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mengukur kualitas imbal hasil per unit risiko?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Sharpe Ratio mengukur kelebihan imbal hasil (Excess Return) dibandingkan aset aman (Risk-Free) per satu satuan risiko (Volatilitas).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Sederhana: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(Return Portofolio - Risk-Free Rate) / Standar Deviasi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Portofolio (Rp): 15% (0.15)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   • Suku Bunga Bebas Risiko (Rf): 2% (0.02)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 (Basis: USDT Lending Rate)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Volatilitas Portofolio (σ): 10% (0.10)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Kalkulasi: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(0.15 - 0.02) / 0.10 = 0.13 / 0.10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1.30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1.30 berarti untuk setiap 1% risiko yang diambil, portofolio memberikan imbal hasil tambahan sebesar 1.30%. Semakin tinggi nilai SR, semakin efisien portofolio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Rachev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Rachev Ratio mengukur rasio potensi 'hadiah ekstrem' (Top 5% average) terhadap 'risiko ekstrem' (Bottom 5% average loss).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2. Skenario A: Normal/Bullish (Menguntungkan):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Profit (Top 5%): +12% | Avg. Loss (Bottom 5%): -8%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12% / 8%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1.50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Skenario B: Extreme Bear Market (Keduanya Rugi):</a:t>
            </a:r>
            <a:endParaRPr lang="en-US" sz="1600" dirty="0"/>
          </a:p>
          <a:p>
            <a:pPr indent="0" marL="0">
              <a:buNone/>
            </a:pPr>
            <a:r>
              <a:rPr lang="en-US" sz="1200" i="1" dirty="0">
                <a:solidFill>
                  <a:srgbClr val="333333"/>
                </a:solidFill>
              </a:rPr>
              <a:t>   • Jika kondisi pasar hancur total, bahkan return terbaik pun bisa negatif.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Return (Top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-2% (Rugi)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| Avg. Loss (Bottom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-12% (Rugi)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-2% / 12%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-0.16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negatif (Skenario B) menunjukkan strategi gagal total memberikan profit. Sebaliknya, nilai &gt; 1 (Skenario A) menunjukkan portofolio memiliki potensi pemulihan yang jauh lebih besar daripada risiko kejatuhannya.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  <p:sp>
        <p:nvSpPr>
          <p:cNvPr id="3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61</Slides>
  <Notes>61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2026-04-11T20:10:59Z</dcterms:created>
  <dcterms:modified xsi:type="dcterms:W3CDTF">2026-04-11T20:10:59Z</dcterms:modified>
</cp:coreProperties>
</file>