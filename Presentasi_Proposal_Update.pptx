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3E50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2C3E50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980B9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di pasar 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cryptocurrency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rekam jejak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 Tradisional: Rawan terhadap 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kovarians, terutama ketika korelasi aset sangat berisik.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Potensi 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Network Markowitz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Menyaring 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menggunakan 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</a:t>
            </a:r>
            <a:pPr indent="0" marL="0">
              <a:buNone/>
            </a:pPr>
            <a:r>
              <a:rPr lang="en-US" sz="2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) dan memetakan struktur pasar lewat 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Minimum Spanning Tree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(MST) untuk penentuan penalti sentralitas.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980B9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Fluktuasi harga acak akibat sentimen sesaat, rumor, FOMO,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tradisional seringkali menangkap pergerakan acak ini sebagai korelasi tinggi antar aset, menghasilkan matriks kovarians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Berfungsi sebagai filter untuk memisahkan korelasi sejati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fluktuasi semu.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980B9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Tinjauan Portofolio &amp; Risiko: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  Portofolio: Kumpulan aset finansial yang dikelola bersama untuk mengoptimalkan profil risiko-imbal hasil melalui diversifikasi.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  Volatilitas: Alat statistik pemetaan fluktuasi harga yang menjadi basis penentuan tingkat risiko pasar.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  Matriks Kovarians: Alat matematis yang mengukur arah pergerakan bersama (korelasi) serta tingkat fluktuasi seluruh aset dalam portofolio.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Pendekatan Struktur Jaringan: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  Random Matrix Theory (</a:t>
            </a:r>
            <a:pPr indent="0" marL="0">
              <a:buNone/>
            </a:pPr>
            <a:r>
              <a:rPr lang="en-US" sz="13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): Metode fisika statistik pemfilter </a:t>
            </a:r>
            <a:pPr indent="0" marL="0">
              <a:buNone/>
            </a:pPr>
            <a:r>
              <a:rPr lang="en-US" sz="13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untuk merekonstruksi kestabilan matriks korelasi.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  Minimum Spanning Tree (MST): Konstruksi jaringan antar aset berdasarkan jarak korelasi terpendek (paling kuat); menyaring informasi redundan tanpa membentuk siklus (loop).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  Network Centrality: Metrik penghukuman pada aset pasar yang letaknya terpusat untuk menekan probabilitas risiko penularan letupan harga yang sistemik.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980B9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Pelopor model Network Markowitz yang memadukan RMT dan MST pada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Mendemonstrasikan diversifikasi portofolio berbasis deteksi komunitas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Membuktikan pemilihan koin dari analisis topologi MST mengalahkan semua benchmark.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Mengonfirmasi penalti graf sangat resilient meredam eksposur ekstrem saat guncangan global (Perang/Pandemi).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Menguatkan efektivitas penggabungan Network-MPT hingga fase pasar terbaru dengan prediksi stabil.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980B9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e:/ProjectNodeJs/temp_doc_build/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980B9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1. EW (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Equally Weighted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): 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Baseline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naif 1/N.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2. CM (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Classical Markowitz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): 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Mean-Variance Optimization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murni.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3. GM (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Glasso Markowitz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): Regularisasi L1 (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Graphical 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) pada matriks kovarians.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4. NW (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Network Markowitz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) Statis: Dengan parameter gamma statis (0, 1.0, 2.0).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5. NW (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Grid Search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) Adaptif: Menggunakan </a:t>
            </a:r>
            <a:pPr indent="0" marL="0">
              <a:buNone/>
            </a:pPr>
            <a:r>
              <a:rPr lang="en-US" sz="2000" i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optimasi parameter dinamis.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980B9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 (Risk-Adjusted Return):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Mengukur imbal hasil berlebih per unit risiko (Volatilitas) secara umum.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Target: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Semakin besar nilainya semakin efisien kualitas portofolio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 / Downside Risk: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Mengkuantifikasi potensi kemungkinan batas 'Kerugian Maksimal' yang dapat diderita model (kondisi crash).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Target: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Semakin kecil batas toleransi kerugiannya (mendekati 0), tandanya model sukses menjadi perisai.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 (Tail Risk &amp; Reward):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Karena kripto sering meledak tinggi/rendah secara instan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fat-tail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metrik ini secara spesifik membandingkan kuantil ekor ekstrem: Potensi 'Profit Ekstrem' vs Ancaman 'Loss Ekstrem'.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Target: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Jika nilainya positif besar, artinya peluang profit jauh menutupi probabilitas loss.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3E50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980B9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2980B9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2800" b="1" dirty="0">
                <a:solidFill>
                  <a:srgbClr val="2980B9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Banyak fluktuasi harga karena sentimen sesaat / kebetulan (</a:t>
            </a:r>
            <a:pPr indent="0" marL="0">
              <a:buNone/>
            </a:pPr>
            <a:r>
              <a:rPr lang="en-US" sz="22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Hubungan nyata antar-aset yang stabil dan berbobot.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Random Matrix Theory (</a:t>
            </a:r>
            <a:pPr indent="0" marL="0">
              <a:buNone/>
            </a:pPr>
            <a:r>
              <a:rPr lang="en-US" sz="2200" b="1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(noise) dari pola suara asli (signal) menggunakan distribusi Marchenko-Pastur.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"Meredam" spekulasi jangka pendek untuk mencegah </a:t>
            </a:r>
            <a:pPr indent="0" marL="0">
              <a:buNone/>
            </a:pPr>
            <a:r>
              <a:rPr lang="en-US" sz="2200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antar-aset yang bersih, kuat, &amp; terpercaya.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80B9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Mengekstrak angka dari matriks korelasi yang mewakili kekuatan pola pergerakan bersama antar-aset.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(Marchenko-Pastur/MP):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RMT menghitung batas teoretis maksimum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λ_max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dari sebuah matriks yang diasumsikan 100% acak tanpa pola.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JALUR NOISE: Jika Eigenvalue &lt; λ_max. Dianggap hanya kebetulan acak (hubungan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JALUR SIGNAL: Jika Eigenvalue &gt; λ_max. Dianggap memiliki ikatan fundamental (hubungan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Eigenvalues yang tergolong noise dibersihkan (dinolkan) dan hanya nilai signal yang dipertahankan untuk membangun ulang matriks korelasi yang bersih.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80B9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Membentuk matriks (N x N) yang menjabarkan seluruh korelasi pergerakan harga antar sepasang mata uang kripto secara historis.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Mencari sebuah besaran skalar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λ (lambda/eigenvalue)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v (eigenvector)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dapat memenuhi ekuivalensi matriks linier: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Secara matematis, nilai λ tersebut adalah akar yang dicari dengan menyelesaikan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(di mana I mewakili matriks Indentitas).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Mesin (seperti metode Eigen-Decomposition) akan menemukan sekumpulan nilai λ yang memuaskan persamaan di atas. Nilai λ yang paling besar mewakili penggerak pasar terbesar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80B9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 (BTC &amp; ETH) dengan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λ₁ = 1.5 (Market Factor / Signal Kuat)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   • λ₂ = 0.5 (Idiosyncratic Risk / 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Jika RMT mematok batas λ_max = 1.0, maka λ₂ (0.5) akan dianggap sebagai Noise lalu dinolkan, sementara λ₁ (1.5) dijaga sebagai korelasi sejati (Signal).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80B9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Input dasar berupa data runtut waktu (time-series) dari return harian aset-aset cryptocurrency.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Dalam script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strategy_comparison.ipynb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, korelasi dihitung menggunakan library </a:t>
            </a:r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atau </a:t>
            </a:r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NumPy (np.corrcoef())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Secara bawaan (default), fungsi ini menghitung algoritma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Koefisien Korelasi Pearson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(Cov = kovarians antara dua koin, σ = standar deviasi tingkat 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Menghasilkan tabel bersilang berisi nilai antara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 (Berkebalikan 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(Bergerak 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Nilai diagonal matriks ini selalu 1 (korelasi koin terhadap dirinya sendiri).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80B9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TIDAK. Nilai Eigen (Eigenvalue) adalah hasil perhitungan dinamis yang diekstrak langsung dari matriks korelasi aset-aset pada saat itu.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 dalam Framework Network Markowitz: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Berubah: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Dihitung ulang dari data pergerakan harga terbaru (rolling window).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Dekomposisi Eigen Diperbarui: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Matriks korelasi baru dipecah menjadi Nilai Eigen (kekuatan pola) dan Vektor Eigen (arah).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Batas Filter MP Ikut Berubah: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Batas noise (Marchenko-Pastur) juga dihitung ulang mengikuti rasio jumlah data harian dibagi jumlah aset.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Korelasi Bersih Terbentuk: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Nilai eigen yang masuk kategori noise dinolkan, dan nilai eigen sinyal (signal) digunakan untuk merekonstruksi korelasi yang stabil.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→ 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27AE60"/>
                </a:solidFill>
              </a:rPr>
              <a:t>real-time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inilah yang membuat model sanggup merespons dengan cepat perubahan rezim dari bull ke bear market.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80B9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Distribusi MP adalah teori probabilitas yang memprediksi seperti apa bentuk (distribusi eigenvalue) dari sebuah matriks yang 100% berisi angka acak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   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T = Jumlah baris data historis (Misal: pergerakan harga selama 365 hari)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N = Jumlah kolom / aset / koin (Misal: 10 koin kripto)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Pemfilteran: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Setiap nilai eigen (eigenvalue) dari matriks korelasi kripto akan dibandingkan dengan λ_max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7F8C8D"/>
                </a:solidFill>
              </a:rPr>
              <a:t>   • Eigenvalue &lt; λ_max : Dihapus (Dianggap Noise/Acak)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Eigenvalue &gt; λ_max : Dipertahankan (Dianggap Sinyal Fundamental)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80B9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Bayangkan aset-aset kripto (BTC, ETH, BNB) adalah kota-kota yang ingin dihubungkan dengan jalan tol (korelasi).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Aturan MST (Minimum Spanning Tree):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Hubungkan Kota yang Paling Dekat Dulu: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(Memprioritaskan korelasi yang paling kuat antar aset).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2. Jangkau Semua Kota: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(Semua koin dalam portofolio harus terhubung dalam 1 jaringan yang sama).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3. Dilarang Membuat Jalan Memutar (Tanpa Loop):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(Agar tidak ada informasi pergerakan harga yang bergema/berputar-putar secara redundan yang bisa memicu reaksi berlebihan).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80B9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Di sebuah jaringan jalan tol, pasti ada 1 kota besar yang menjadi pusat persimpangan (Banyak jalan terhubung ke sana).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Di pasar kripto, kota pusat ini mewakili koin yang </a:t>
            </a:r>
            <a:endParaRPr lang="en-US" sz="1800" dirty="0"/>
          </a:p>
          <a:p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Jika terjadi "kecelakaan" (harga anjlok) di koin sentral ini, efeknya akan langsung menular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Koin sentral/pusat ini akan diberi hukuman (penalti bobot alokasi) agar portofolio tidak hancur seketika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80B9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TIDAK. Secara teori, tidak ada nilai penalti statis yang selalu cocok sepanjang waktu akibat perubahan siklus (rezim) pada fluktuasi uang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Ketika Fase Bull Market (Pasar Menguat):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Koin-koin cenderung naik bersamaan. Di fase ini, jika koin sentral diberi penalti terlalu berat (misal $\gamma$ = 2.0), Anda berisiko kehilangan peluang mendulang untung yang besar.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Nilai Optimal: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Cenderung rendah (mulai mendekati 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Ketika Fase Bear Market / Crash (Pasar Jatuh):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Kepanikan massal membuat koreksi harga saling menular. Keruntuhan 1 koin sentral bisa mematikan seluruh portofolio Anda secara seketika (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Nilai Optimal: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Cenderung tinggi (bisa $\gamma$ = 1.0, 2.0, dst.) untuk melumpuhkan bobot eksposur koin yang krusial tersebut.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Strategi Grid Search (GS):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Alih-alih menebak satu tebakan buta, Network Markowitz GS membiarkan komputer "terus belajar dan menyesuaikan" nilai Gamma yang paling sesuai dengan data harga harian terbaru.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80B9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Memaksimalkan tingkat keuntungan (Return) pada tingkat risiko tertentu, ATAU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Meminimalkan risiko (Variance) pada tingkat keuntungan tertentu.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Investor diasumsikan sepenuhnya rasional dan benci risiko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Model ini sangat bergantung pada matriks kovarians historis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80B9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 (Estimation Error):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Pasar kripto sangat liar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dan memiliki korelasi ekor tebal. Fluktuasi historis belum tentu berulang di masa depan.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CM memakan mentah-mentah noise (angka semu/acak) tanpa memfilternya, yang berujung pada portofolio gagal yang terlalu percaya diri pada korelasi historis palsu.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Oleh karena itu, CM dikembangkan menjadi Network Markowitz di penelitian ini: membersihkan noise (RMT) dan menghukum koin dominan yang rawan hancur (MST).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80B9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Dalam penelitian ini, Grid Search dibelah menjadi 2 pendekatan utama agar sejalan dengan tujuan dari masing-masing investor (Mau untung besar vs Cari aman).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GS):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Tujuan: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Memaksimalkan capaian tingkat imbal hasil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Expected Return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Sifat: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Lebih Agresif. Grid search akan mencari kombinasi penalti (γ) dan alokasi aset yang bisa menyerok keuntungan sebesar mungkin, sangat cocok untuk mengeksploitasi reli harga saat pasar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Bullish / Recovery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GS):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Tujuan: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Menekan parameter risiko total portofolio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Variance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hingga ke tingkat minimal.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Sifat: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Lebih Defensif. Algoritma akan mencari nilai γ tinggi yang paling efektif meredam fluktuasi harga dan mengamankan modal (Mengerem penyebaran efek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saat terjadi crash di fase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80B9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 / tidak bergerak.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tersebut sama sekali tidak punya korelasi nyata dengan pergerakan organik aset dominan (seperti Bitcoin).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nilai-nilai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(berada di bawah batas Marchenko-Pastur),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terselamatkan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80B9"/>
                </a:solidFill>
              </a:rPr>
              <a:t>Lampiran: Mengapa Menyertakan Tether (USDT)?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 dengan berlindung pada aset yang tidak fluktuatif?"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Model ini disusun persis untuk mensimulasikan perilaku paling realistis dari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Ketika pasar mendadak anjlok ekstrem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Bearish/Crash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investor normal akan melikuidasi risiko dan melarikan senjatanya ke posisi uang tunai (USD) atau obligasi minimum risiko.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(GS)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evakuasi otomatis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sangat tangguh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2026-03-15T01:57:05Z</dcterms:created>
  <dcterms:modified xsi:type="dcterms:W3CDTF">2026-03-15T01:57:05Z</dcterms:modified>
</cp:coreProperties>
</file>